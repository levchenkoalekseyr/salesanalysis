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DA6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80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ru-RU" sz="18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ДОЛЯ РЫНКА,</a:t>
            </a:r>
            <a:r>
              <a:rPr lang="ru-RU" sz="1800" b="1" baseline="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%</a:t>
            </a:r>
            <a:endParaRPr lang="ru-RU" sz="1800" b="1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c:rich>
      </c:tx>
      <c:layout>
        <c:manualLayout>
          <c:xMode val="edge"/>
          <c:yMode val="edge"/>
          <c:x val="0.11007310326427215"/>
          <c:y val="4.7226350568265629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Лист1!$B$1</c:f>
              <c:strCache>
                <c:ptCount val="1"/>
                <c:pt idx="0">
                  <c:v>Продажи</c:v>
                </c:pt>
              </c:strCache>
            </c:strRef>
          </c:tx>
          <c:dPt>
            <c:idx val="0"/>
            <c:bubble3D val="0"/>
            <c:spPr>
              <a:solidFill>
                <a:srgbClr val="92D05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96E1-4901-853F-7F5A0A23AD32}"/>
              </c:ext>
            </c:extLst>
          </c:dPt>
          <c:dPt>
            <c:idx val="1"/>
            <c:bubble3D val="0"/>
            <c:explosion val="4"/>
            <c:spPr>
              <a:solidFill>
                <a:schemeClr val="accent2">
                  <a:lumMod val="7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96E1-4901-853F-7F5A0A23AD32}"/>
              </c:ext>
            </c:extLst>
          </c:dPt>
          <c:dLbls>
            <c:dLbl>
              <c:idx val="0"/>
              <c:layout>
                <c:manualLayout>
                  <c:x val="-0.36750042173602782"/>
                  <c:y val="-0.17415119621495054"/>
                </c:manualLayout>
              </c:layout>
              <c:tx>
                <c:rich>
                  <a:bodyPr/>
                  <a:lstStyle/>
                  <a:p>
                    <a:r>
                      <a:rPr lang="en-US" dirty="0"/>
                      <a:t>99%</a:t>
                    </a:r>
                  </a:p>
                </c:rich>
              </c:tx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96E1-4901-853F-7F5A0A23AD32}"/>
                </c:ext>
              </c:extLst>
            </c:dLbl>
            <c:dLbl>
              <c:idx val="1"/>
              <c:layout>
                <c:manualLayout>
                  <c:x val="-6.9825016604753223E-2"/>
                  <c:y val="5.8709419115887986E-2"/>
                </c:manualLayout>
              </c:layout>
              <c:tx>
                <c:rich>
                  <a:bodyPr/>
                  <a:lstStyle/>
                  <a:p>
                    <a:r>
                      <a:rPr lang="en-US" dirty="0"/>
                      <a:t>1%</a:t>
                    </a:r>
                  </a:p>
                </c:rich>
              </c:tx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96E1-4901-853F-7F5A0A23AD32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Лист1!$A$2:$A$3</c:f>
              <c:strCache>
                <c:ptCount val="2"/>
                <c:pt idx="0">
                  <c:v>Австрия</c:v>
                </c:pt>
                <c:pt idx="1">
                  <c:v>Венгрия</c:v>
                </c:pt>
              </c:strCache>
            </c:strRef>
          </c:cat>
          <c:val>
            <c:numRef>
              <c:f>Лист1!$B$2:$B$3</c:f>
              <c:numCache>
                <c:formatCode>#,##0</c:formatCode>
                <c:ptCount val="2"/>
                <c:pt idx="0" formatCode="General">
                  <c:v>305023</c:v>
                </c:pt>
                <c:pt idx="1">
                  <c:v>980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96E1-4901-853F-7F5A0A23AD3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200" b="1" i="0" u="none" strike="noStrike" kern="1200" cap="all" spc="15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Стоимость хранения</a:t>
            </a:r>
          </a:p>
        </c:rich>
      </c:tx>
      <c:layout>
        <c:manualLayout>
          <c:xMode val="edge"/>
          <c:yMode val="edge"/>
          <c:x val="0.11563742500101508"/>
          <c:y val="2.7615503077884913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200" b="1" i="0" u="none" strike="noStrike" kern="1200" cap="all" spc="150" baseline="0">
              <a:solidFill>
                <a:schemeClr val="tx1">
                  <a:lumMod val="50000"/>
                  <a:lumOff val="50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>
        <c:manualLayout>
          <c:layoutTarget val="inner"/>
          <c:xMode val="edge"/>
          <c:yMode val="edge"/>
          <c:x val="0.16142286077394069"/>
          <c:y val="0.21016276993377403"/>
          <c:w val="0.83744021175238592"/>
          <c:h val="0.55323093122027023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Ряд 1</c:v>
                </c:pt>
              </c:strCache>
            </c:strRef>
          </c:tx>
          <c:spPr>
            <a:pattFill prst="narHorz">
              <a:fgClr>
                <a:schemeClr val="accent1"/>
              </a:fgClr>
              <a:bgClr>
                <a:schemeClr val="accent1">
                  <a:lumMod val="20000"/>
                  <a:lumOff val="80000"/>
                </a:schemeClr>
              </a:bgClr>
            </a:pattFill>
            <a:ln>
              <a:noFill/>
            </a:ln>
            <a:effectLst>
              <a:innerShdw blurRad="114300">
                <a:schemeClr val="accent1"/>
              </a:innerShdw>
            </a:effectLst>
          </c:spPr>
          <c:invertIfNegative val="0"/>
          <c:dPt>
            <c:idx val="1"/>
            <c:invertIfNegative val="0"/>
            <c:bubble3D val="0"/>
            <c:spPr>
              <a:solidFill>
                <a:schemeClr val="accent2"/>
              </a:solidFill>
              <a:ln>
                <a:solidFill>
                  <a:schemeClr val="accent2"/>
                </a:solidFill>
              </a:ln>
              <a:effectLst>
                <a:innerShdw blurRad="114300">
                  <a:schemeClr val="accent1"/>
                </a:innerShdw>
              </a:effectLst>
            </c:spPr>
            <c:extLst>
              <c:ext xmlns:c16="http://schemas.microsoft.com/office/drawing/2014/chart" uri="{C3380CC4-5D6E-409C-BE32-E72D297353CC}">
                <c16:uniqueId val="{00000003-77C2-45F3-A2F3-DB44B67F54E2}"/>
              </c:ext>
            </c:extLst>
          </c:dPt>
          <c:dLbls>
            <c:dLbl>
              <c:idx val="0"/>
              <c:layout>
                <c:manualLayout>
                  <c:x val="-5.6487647242111855E-3"/>
                  <c:y val="-2.6940878894286665E-3"/>
                </c:manualLayout>
              </c:layout>
              <c:tx>
                <c:rich>
                  <a:bodyPr/>
                  <a:lstStyle/>
                  <a:p>
                    <a:fld id="{E72A16BA-9819-4768-9ACC-8068EA78F7D4}" type="VALUE">
                      <a:rPr lang="en-US" smtClean="0"/>
                      <a:pPr/>
                      <a:t>[ЗНАЧЕНИЕ]</a:t>
                    </a:fld>
                    <a:r>
                      <a:rPr lang="en-US" dirty="0"/>
                      <a:t> 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2-77C2-45F3-A2F3-DB44B67F54E2}"/>
                </c:ext>
              </c:extLst>
            </c:dLbl>
            <c:dLbl>
              <c:idx val="1"/>
              <c:layout>
                <c:manualLayout>
                  <c:x val="-8.1591483647974472E-3"/>
                  <c:y val="-4.1479436614014452E-3"/>
                </c:manualLayout>
              </c:layout>
              <c:tx>
                <c:rich>
                  <a:bodyPr/>
                  <a:lstStyle/>
                  <a:p>
                    <a:r>
                      <a:rPr lang="en-US" dirty="0"/>
                      <a:t>320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77C2-45F3-A2F3-DB44B67F54E2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Лист1!$A$2:$A$3</c:f>
              <c:strCache>
                <c:ptCount val="2"/>
                <c:pt idx="0">
                  <c:v>Контракт</c:v>
                </c:pt>
                <c:pt idx="1">
                  <c:v>Предложение</c:v>
                </c:pt>
              </c:strCache>
            </c:strRef>
          </c:cat>
          <c:val>
            <c:numRef>
              <c:f>Лист1!$B$2:$B$3</c:f>
              <c:numCache>
                <c:formatCode>#\ ##0_ ;[Red]\-#\ ##0\ </c:formatCode>
                <c:ptCount val="2"/>
                <c:pt idx="0" formatCode="#,##0">
                  <c:v>2400000</c:v>
                </c:pt>
                <c:pt idx="1">
                  <c:v>320000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7C2-45F3-A2F3-DB44B67F54E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64"/>
        <c:overlap val="-22"/>
        <c:axId val="821672112"/>
        <c:axId val="821672528"/>
      </c:barChart>
      <c:catAx>
        <c:axId val="821672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9050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0" spcFirstLastPara="1" vertOverflow="ellipsis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821672528"/>
        <c:crosses val="autoZero"/>
        <c:auto val="1"/>
        <c:lblAlgn val="ctr"/>
        <c:lblOffset val="100"/>
        <c:noMultiLvlLbl val="0"/>
      </c:catAx>
      <c:valAx>
        <c:axId val="821672528"/>
        <c:scaling>
          <c:orientation val="minMax"/>
        </c:scaling>
        <c:delete val="0"/>
        <c:axPos val="l"/>
        <c:numFmt formatCode="#,##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821672112"/>
        <c:crosses val="autoZero"/>
        <c:crossBetween val="between"/>
        <c:majorUnit val="300000"/>
        <c:dispUnits>
          <c:builtInUnit val="thousands"/>
          <c:dispUnitsLbl>
            <c:layout>
              <c:manualLayout>
                <c:xMode val="edge"/>
                <c:yMode val="edge"/>
                <c:x val="0.14176567425669284"/>
                <c:y val="0.27086357406741074"/>
              </c:manualLayout>
            </c:layout>
            <c:tx>
              <c:rich>
                <a:bodyPr rot="-5400000" spcFirstLastPara="1" vertOverflow="ellipsis" vert="horz" wrap="square" anchor="ctr" anchorCtr="1"/>
                <a:lstStyle/>
                <a:p>
                  <a:pPr>
                    <a:defRPr sz="1197" b="1" i="0" u="none" strike="noStrike" kern="1200" baseline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r>
                    <a:rPr lang="ru-RU" sz="1200" b="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Тысячи</a:t>
                  </a:r>
                  <a:r>
                    <a:rPr lang="en-US" sz="1200" b="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, </a:t>
                  </a:r>
                  <a:r>
                    <a:rPr lang="ru-RU" sz="1200" b="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Евро</a:t>
                  </a:r>
                </a:p>
              </c:rich>
            </c:tx>
            <c:spPr>
              <a:noFill/>
              <a:ln>
                <a:noFill/>
              </a:ln>
              <a:effectLst/>
            </c:spPr>
            <c:txPr>
              <a:bodyPr rot="-5400000" spcFirstLastPara="1" vertOverflow="ellipsis" vert="horz" wrap="square" anchor="ctr" anchorCtr="1"/>
              <a:lstStyle/>
              <a:p>
                <a:pPr>
                  <a:defRPr sz="1197" b="1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</c:dispUnitsLbl>
        </c:dispUnits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200" b="1" i="0" u="none" strike="noStrike" kern="1200" cap="all" spc="15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Денежные потоки</a:t>
            </a:r>
          </a:p>
        </c:rich>
      </c:tx>
      <c:layout>
        <c:manualLayout>
          <c:xMode val="edge"/>
          <c:yMode val="edge"/>
          <c:x val="0.28717047478087709"/>
          <c:y val="3.1787284264848531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200" b="1" i="0" u="none" strike="noStrike" kern="1200" cap="all" spc="150" baseline="0">
              <a:solidFill>
                <a:schemeClr val="tx1">
                  <a:lumMod val="50000"/>
                  <a:lumOff val="50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>
        <c:manualLayout>
          <c:layoutTarget val="inner"/>
          <c:xMode val="edge"/>
          <c:yMode val="edge"/>
          <c:x val="0.168213411270971"/>
          <c:y val="0.15568695786225331"/>
          <c:w val="0.82133624242621606"/>
          <c:h val="0.75252339227167242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Контракт</c:v>
                </c:pt>
              </c:strCache>
            </c:strRef>
          </c:tx>
          <c:spPr>
            <a:pattFill prst="narHorz">
              <a:fgClr>
                <a:schemeClr val="accent1"/>
              </a:fgClr>
              <a:bgClr>
                <a:schemeClr val="accent1">
                  <a:lumMod val="20000"/>
                  <a:lumOff val="80000"/>
                </a:schemeClr>
              </a:bgClr>
            </a:pattFill>
            <a:ln>
              <a:noFill/>
            </a:ln>
            <a:effectLst>
              <a:innerShdw blurRad="114300">
                <a:schemeClr val="accent1"/>
              </a:innerShdw>
            </a:effectLst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r>
                      <a:rPr lang="en-US" dirty="0"/>
                      <a:t>3,39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1DF9-44C4-BA66-1531E75AD234}"/>
                </c:ext>
              </c:extLst>
            </c:dLbl>
            <c:dLbl>
              <c:idx val="1"/>
              <c:layout>
                <c:manualLayout>
                  <c:x val="-4.5639221899797713E-3"/>
                  <c:y val="5.7531691218227488E-3"/>
                </c:manualLayout>
              </c:layout>
              <c:tx>
                <c:rich>
                  <a:bodyPr/>
                  <a:lstStyle/>
                  <a:p>
                    <a:r>
                      <a:rPr lang="en-US" dirty="0"/>
                      <a:t>-9,34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1DF9-44C4-BA66-1531E75AD234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 dirty="0"/>
                      <a:t>5,73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1DF9-44C4-BA66-1531E75AD234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en-US" dirty="0"/>
                      <a:t>5,41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1DF9-44C4-BA66-1531E75AD234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Лист1!$A$2:$A$5</c:f>
              <c:strCache>
                <c:ptCount val="4"/>
                <c:pt idx="0">
                  <c:v>3 кв. 2020</c:v>
                </c:pt>
                <c:pt idx="1">
                  <c:v>4 кв. 2020</c:v>
                </c:pt>
                <c:pt idx="2">
                  <c:v>1 кв. 2021</c:v>
                </c:pt>
                <c:pt idx="3">
                  <c:v>2 кв. 2021</c:v>
                </c:pt>
              </c:strCache>
            </c:strRef>
          </c:cat>
          <c:val>
            <c:numRef>
              <c:f>Лист1!$B$2:$B$5</c:f>
              <c:numCache>
                <c:formatCode>General</c:formatCode>
                <c:ptCount val="4"/>
                <c:pt idx="0">
                  <c:v>3385858</c:v>
                </c:pt>
                <c:pt idx="1">
                  <c:v>-9338275</c:v>
                </c:pt>
                <c:pt idx="2">
                  <c:v>5726505</c:v>
                </c:pt>
                <c:pt idx="3">
                  <c:v>5410900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1DF9-44C4-BA66-1531E75AD234}"/>
            </c:ext>
          </c:extLst>
        </c:ser>
        <c:ser>
          <c:idx val="1"/>
          <c:order val="1"/>
          <c:tx>
            <c:strRef>
              <c:f>Лист1!$C$1</c:f>
              <c:strCache>
                <c:ptCount val="1"/>
                <c:pt idx="0">
                  <c:v>Предложение</c:v>
                </c:pt>
              </c:strCache>
            </c:strRef>
          </c:tx>
          <c:spPr>
            <a:pattFill prst="narHorz">
              <a:fgClr>
                <a:schemeClr val="accent2"/>
              </a:fgClr>
              <a:bgClr>
                <a:schemeClr val="accent2">
                  <a:lumMod val="20000"/>
                  <a:lumOff val="80000"/>
                </a:schemeClr>
              </a:bgClr>
            </a:pattFill>
            <a:ln>
              <a:noFill/>
            </a:ln>
            <a:effectLst>
              <a:innerShdw blurRad="114300">
                <a:schemeClr val="accent2"/>
              </a:innerShdw>
            </a:effectLst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r>
                      <a:rPr lang="en-US"/>
                      <a:t>2,95</a:t>
                    </a:r>
                    <a:endParaRPr lang="en-US" dirty="0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1DF9-44C4-BA66-1531E75AD234}"/>
                </c:ext>
              </c:extLst>
            </c:dLbl>
            <c:dLbl>
              <c:idx val="1"/>
              <c:layout>
                <c:manualLayout>
                  <c:x val="8.4116345175963871E-3"/>
                  <c:y val="0.11062761821804618"/>
                </c:manualLayout>
              </c:layout>
              <c:tx>
                <c:rich>
                  <a:bodyPr/>
                  <a:lstStyle/>
                  <a:p>
                    <a:r>
                      <a:rPr lang="en-US" dirty="0"/>
                      <a:t>-600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6-1DF9-44C4-BA66-1531E75AD234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 dirty="0"/>
                      <a:t>10,99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7-1DF9-44C4-BA66-1531E75AD234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Лист1!$A$2:$A$5</c:f>
              <c:strCache>
                <c:ptCount val="4"/>
                <c:pt idx="0">
                  <c:v>3 кв. 2020</c:v>
                </c:pt>
                <c:pt idx="1">
                  <c:v>4 кв. 2020</c:v>
                </c:pt>
                <c:pt idx="2">
                  <c:v>1 кв. 2021</c:v>
                </c:pt>
                <c:pt idx="3">
                  <c:v>2 кв. 2021</c:v>
                </c:pt>
              </c:strCache>
            </c:strRef>
          </c:cat>
          <c:val>
            <c:numRef>
              <c:f>Лист1!$C$2:$C$5</c:f>
              <c:numCache>
                <c:formatCode>General</c:formatCode>
                <c:ptCount val="4"/>
                <c:pt idx="0">
                  <c:v>2949400</c:v>
                </c:pt>
                <c:pt idx="1">
                  <c:v>-600</c:v>
                </c:pt>
                <c:pt idx="2">
                  <c:v>10992831</c:v>
                </c:pt>
                <c:pt idx="3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1DF9-44C4-BA66-1531E75AD23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64"/>
        <c:overlap val="-22"/>
        <c:axId val="821292848"/>
        <c:axId val="821292016"/>
      </c:barChart>
      <c:catAx>
        <c:axId val="82129284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9050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0" spcFirstLastPara="1" vertOverflow="ellipsis" vert="horz" wrap="square" anchor="b" anchorCtr="0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821292016"/>
        <c:crossesAt val="0"/>
        <c:auto val="1"/>
        <c:lblAlgn val="ctr"/>
        <c:lblOffset val="1000"/>
        <c:noMultiLvlLbl val="0"/>
      </c:catAx>
      <c:valAx>
        <c:axId val="821292016"/>
        <c:scaling>
          <c:orientation val="minMax"/>
          <c:min val="-10000000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197" b="1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 sz="1200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Миллионы</a:t>
                </a:r>
                <a:r>
                  <a:rPr lang="ru-RU" sz="1200" b="0" baseline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sz="1200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Евро</a:t>
                </a:r>
              </a:p>
            </c:rich>
          </c:tx>
          <c:layout>
            <c:manualLayout>
              <c:xMode val="edge"/>
              <c:yMode val="edge"/>
              <c:x val="0.15393383119965459"/>
              <c:y val="0.24338335871246408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197" b="1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821292848"/>
        <c:crossesAt val="1"/>
        <c:crossBetween val="between"/>
        <c:dispUnits>
          <c:builtInUnit val="millions"/>
        </c:dispUnits>
      </c:valAx>
      <c:spPr>
        <a:noFill/>
        <a:ln>
          <a:noFill/>
        </a:ln>
        <a:effectLst/>
      </c:spPr>
    </c:plotArea>
    <c:legend>
      <c:legendPos val="t"/>
      <c:layout>
        <c:manualLayout>
          <c:xMode val="edge"/>
          <c:yMode val="edge"/>
          <c:x val="0.21484032451630614"/>
          <c:y val="0.26343250677390556"/>
          <c:w val="0.4489432277504451"/>
          <c:h val="6.6212143716620625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200" b="1" i="0" u="none" strike="noStrike" kern="1200" cap="all" spc="15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ru-RU" sz="1800" dirty="0" err="1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ПриведеннАЯ</a:t>
            </a:r>
            <a:r>
              <a:rPr lang="ru-RU" sz="1800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выручка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200" b="1" i="0" u="none" strike="noStrike" kern="1200" cap="all" spc="150" baseline="0">
              <a:solidFill>
                <a:schemeClr val="tx1">
                  <a:lumMod val="50000"/>
                  <a:lumOff val="50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Ряд 1</c:v>
                </c:pt>
              </c:strCache>
            </c:strRef>
          </c:tx>
          <c:spPr>
            <a:pattFill prst="narHorz">
              <a:fgClr>
                <a:schemeClr val="accent1"/>
              </a:fgClr>
              <a:bgClr>
                <a:schemeClr val="accent1">
                  <a:lumMod val="20000"/>
                  <a:lumOff val="80000"/>
                </a:schemeClr>
              </a:bgClr>
            </a:pattFill>
            <a:ln>
              <a:noFill/>
            </a:ln>
            <a:effectLst>
              <a:innerShdw blurRad="114300">
                <a:schemeClr val="accent1"/>
              </a:innerShdw>
            </a:effectLst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r>
                      <a:rPr lang="en-US" dirty="0"/>
                      <a:t>4 950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C746-4994-9160-E6DE47238611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dirty="0"/>
                      <a:t>13</a:t>
                    </a:r>
                    <a:r>
                      <a:rPr lang="en-US" baseline="0" dirty="0"/>
                      <a:t> 629</a:t>
                    </a:r>
                    <a:endParaRPr lang="en-US" dirty="0"/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497B-40AE-AD3E-D62C54E8095D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Лист1!$A$2:$A$3</c:f>
              <c:strCache>
                <c:ptCount val="2"/>
                <c:pt idx="0">
                  <c:v>Контракт</c:v>
                </c:pt>
                <c:pt idx="1">
                  <c:v>Предложение</c:v>
                </c:pt>
              </c:strCache>
            </c:strRef>
          </c:cat>
          <c:val>
            <c:numRef>
              <c:f>Лист1!$B$2:$B$3</c:f>
              <c:numCache>
                <c:formatCode>#,##0</c:formatCode>
                <c:ptCount val="2"/>
                <c:pt idx="0">
                  <c:v>4950200</c:v>
                </c:pt>
                <c:pt idx="1">
                  <c:v>13628849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97B-40AE-AD3E-D62C54E8095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64"/>
        <c:overlap val="-22"/>
        <c:axId val="459226880"/>
        <c:axId val="459228128"/>
      </c:barChart>
      <c:catAx>
        <c:axId val="45922688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9050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459228128"/>
        <c:crosses val="autoZero"/>
        <c:auto val="1"/>
        <c:lblAlgn val="ctr"/>
        <c:lblOffset val="100"/>
        <c:noMultiLvlLbl val="0"/>
      </c:catAx>
      <c:valAx>
        <c:axId val="459228128"/>
        <c:scaling>
          <c:orientation val="minMax"/>
        </c:scaling>
        <c:delete val="0"/>
        <c:axPos val="l"/>
        <c:numFmt formatCode="#,##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459226880"/>
        <c:crosses val="autoZero"/>
        <c:crossBetween val="between"/>
        <c:dispUnits>
          <c:builtInUnit val="millions"/>
          <c:dispUnitsLbl>
            <c:layout>
              <c:manualLayout>
                <c:xMode val="edge"/>
                <c:yMode val="edge"/>
                <c:x val="0.14085728235432765"/>
                <c:y val="0.20867978998719977"/>
              </c:manualLayout>
            </c:layout>
            <c:tx>
              <c:rich>
                <a:bodyPr rot="-5400000" spcFirstLastPara="1" vertOverflow="ellipsis" vert="horz" wrap="square" anchor="ctr" anchorCtr="1"/>
                <a:lstStyle/>
                <a:p>
                  <a:pPr>
                    <a:defRPr sz="1197" b="1" i="0" u="none" strike="noStrike" kern="1200" baseline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r>
                    <a:rPr lang="ru-RU" sz="1600" b="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Денежный поток,</a:t>
                  </a:r>
                  <a:r>
                    <a:rPr lang="ru-RU" sz="1600" b="0" baseline="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тыс.</a:t>
                  </a:r>
                  <a:r>
                    <a:rPr lang="ru-RU" sz="1600" b="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Евро</a:t>
                  </a:r>
                </a:p>
              </c:rich>
            </c:tx>
            <c:spPr>
              <a:noFill/>
              <a:ln>
                <a:noFill/>
              </a:ln>
              <a:effectLst/>
            </c:spPr>
            <c:txPr>
              <a:bodyPr rot="-5400000" spcFirstLastPara="1" vertOverflow="ellipsis" vert="horz" wrap="square" anchor="ctr" anchorCtr="1"/>
              <a:lstStyle/>
              <a:p>
                <a:pPr>
                  <a:defRPr sz="1197" b="1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</c:dispUnitsLbl>
        </c:dispUnits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3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b="1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9050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>
      <cs:styleClr val="auto"/>
    </cs:effectRef>
    <cs:fontRef idx="minor">
      <a:schemeClr val="dk1"/>
    </cs:fontRef>
    <cs:spPr>
      <a:pattFill prst="narHorz">
        <a:fgClr>
          <a:schemeClr val="phClr"/>
        </a:fgClr>
        <a:bgClr>
          <a:schemeClr val="phClr">
            <a:lumMod val="20000"/>
            <a:lumOff val="80000"/>
          </a:schemeClr>
        </a:bgClr>
      </a:pattFill>
      <a:effectLst>
        <a:innerShdw blurRad="114300">
          <a:schemeClr val="phClr"/>
        </a:inn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pattFill prst="narHorz">
        <a:fgClr>
          <a:schemeClr val="phClr"/>
        </a:fgClr>
        <a:bgClr>
          <a:schemeClr val="phClr">
            <a:lumMod val="20000"/>
            <a:lumOff val="80000"/>
          </a:schemeClr>
        </a:bgClr>
      </a:pattFill>
      <a:effectLst>
        <a:innerShdw blurRad="114300">
          <a:schemeClr val="phClr"/>
        </a:innerShdw>
      </a:effectLst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>
        <a:solidFill>
          <a:schemeClr val="tx1">
            <a:lumMod val="15000"/>
            <a:lumOff val="85000"/>
          </a:schemeClr>
        </a:solidFill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50000"/>
        <a:lumOff val="50000"/>
      </a:schemeClr>
    </cs:fontRef>
    <cs:defRPr sz="2200" b="1" kern="1200" cap="all" spc="15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50000"/>
            <a:lumOff val="50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3.xml><?xml version="1.0" encoding="utf-8"?>
<cs:chartStyle xmlns:cs="http://schemas.microsoft.com/office/drawing/2012/chartStyle" xmlns:a="http://schemas.openxmlformats.org/drawingml/2006/main" id="203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b="1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9050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>
      <cs:styleClr val="auto"/>
    </cs:effectRef>
    <cs:fontRef idx="minor">
      <a:schemeClr val="dk1"/>
    </cs:fontRef>
    <cs:spPr>
      <a:pattFill prst="narHorz">
        <a:fgClr>
          <a:schemeClr val="phClr"/>
        </a:fgClr>
        <a:bgClr>
          <a:schemeClr val="phClr">
            <a:lumMod val="20000"/>
            <a:lumOff val="80000"/>
          </a:schemeClr>
        </a:bgClr>
      </a:pattFill>
      <a:effectLst>
        <a:innerShdw blurRad="114300">
          <a:schemeClr val="phClr"/>
        </a:inn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pattFill prst="narHorz">
        <a:fgClr>
          <a:schemeClr val="phClr"/>
        </a:fgClr>
        <a:bgClr>
          <a:schemeClr val="phClr">
            <a:lumMod val="20000"/>
            <a:lumOff val="80000"/>
          </a:schemeClr>
        </a:bgClr>
      </a:pattFill>
      <a:effectLst>
        <a:innerShdw blurRad="114300">
          <a:schemeClr val="phClr"/>
        </a:innerShdw>
      </a:effectLst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>
        <a:solidFill>
          <a:schemeClr val="tx1">
            <a:lumMod val="15000"/>
            <a:lumOff val="85000"/>
          </a:schemeClr>
        </a:solidFill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50000"/>
        <a:lumOff val="50000"/>
      </a:schemeClr>
    </cs:fontRef>
    <cs:defRPr sz="2200" b="1" kern="1200" cap="all" spc="15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50000"/>
            <a:lumOff val="50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4.xml><?xml version="1.0" encoding="utf-8"?>
<cs:chartStyle xmlns:cs="http://schemas.microsoft.com/office/drawing/2012/chartStyle" xmlns:a="http://schemas.openxmlformats.org/drawingml/2006/main" id="203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b="1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9050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>
      <cs:styleClr val="auto"/>
    </cs:effectRef>
    <cs:fontRef idx="minor">
      <a:schemeClr val="dk1"/>
    </cs:fontRef>
    <cs:spPr>
      <a:pattFill prst="narHorz">
        <a:fgClr>
          <a:schemeClr val="phClr"/>
        </a:fgClr>
        <a:bgClr>
          <a:schemeClr val="phClr">
            <a:lumMod val="20000"/>
            <a:lumOff val="80000"/>
          </a:schemeClr>
        </a:bgClr>
      </a:pattFill>
      <a:effectLst>
        <a:innerShdw blurRad="114300">
          <a:schemeClr val="phClr"/>
        </a:inn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pattFill prst="narHorz">
        <a:fgClr>
          <a:schemeClr val="phClr"/>
        </a:fgClr>
        <a:bgClr>
          <a:schemeClr val="phClr">
            <a:lumMod val="20000"/>
            <a:lumOff val="80000"/>
          </a:schemeClr>
        </a:bgClr>
      </a:pattFill>
      <a:effectLst>
        <a:innerShdw blurRad="114300">
          <a:schemeClr val="phClr"/>
        </a:innerShdw>
      </a:effectLst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>
        <a:solidFill>
          <a:schemeClr val="tx1">
            <a:lumMod val="15000"/>
            <a:lumOff val="85000"/>
          </a:schemeClr>
        </a:solidFill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50000"/>
        <a:lumOff val="50000"/>
      </a:schemeClr>
    </cs:fontRef>
    <cs:defRPr sz="2200" b="1" kern="1200" cap="all" spc="15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50000"/>
            <a:lumOff val="50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602E3CF-ABF8-24A2-D3C1-EA93AA2BE3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DE649445-CDCC-F6D7-1A85-302005EBE8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565DCB2-14B1-E4F0-F513-C8C1189061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9737D-EAA4-41BF-B8A6-8D488671DC4A}" type="datetimeFigureOut">
              <a:rPr lang="ru-RU" smtClean="0"/>
              <a:t>08.07.2023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F108D91-D338-F09E-F61B-7C7F0FDE81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C97F0A8-5A3D-AD38-CEC9-8381AFB417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6FFD4C-09D0-41F7-97B1-3296739A113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834755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AD48010-E7E6-E1B3-0507-7631246F79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4997432-D248-7A98-798B-9E484D2445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158CF51-7454-FE22-25F2-8E159FB3D0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9737D-EAA4-41BF-B8A6-8D488671DC4A}" type="datetimeFigureOut">
              <a:rPr lang="ru-RU" smtClean="0"/>
              <a:t>08.07.2023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2436FF8-0255-50FF-C755-388648E1FB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E0FE506-73E9-2A0B-9870-E333DBAA13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6FFD4C-09D0-41F7-97B1-3296739A113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96797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8FFF4D8-14FB-7B26-2685-512BD01429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B0E5A34-E4ED-D4B3-73DF-DDD13F5929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ED76E34-56E0-9752-CBB8-CF9B50F898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9737D-EAA4-41BF-B8A6-8D488671DC4A}" type="datetimeFigureOut">
              <a:rPr lang="ru-RU" smtClean="0"/>
              <a:t>08.07.2023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F11CF28-9413-75C5-A793-722786332E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9A5100F-7412-91C2-1F7F-FBFC6117EA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6FFD4C-09D0-41F7-97B1-3296739A113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946869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D57144B-477D-CFD3-2DF7-F1D6F48E73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E4D8B26-9A92-4938-2A16-7410B3B37A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35F4CEF5-DBC2-749A-70B9-5C1A774A57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DD6E4930-83CD-75A8-FB22-425DBD9B1A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9737D-EAA4-41BF-B8A6-8D488671DC4A}" type="datetimeFigureOut">
              <a:rPr lang="ru-RU" smtClean="0"/>
              <a:t>08.07.2023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3E5906A-5326-C462-5BD0-E78DE8B58D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443785A-7DD4-ED6B-8314-952CDC433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6FFD4C-09D0-41F7-97B1-3296739A113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639046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46D3B15-FE1D-FC9D-D37A-6AC90C9C44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4516447-5656-2026-3B3B-DF848BC9AF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42DB7EB9-9570-70F1-0ED9-72D7C07AA8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21846344-7A0C-3CB9-B35C-F168023A320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790ED325-BC5B-E010-72CF-E9A72C0510B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827CB917-3EDD-E89E-F61B-ECEC244ED7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9737D-EAA4-41BF-B8A6-8D488671DC4A}" type="datetimeFigureOut">
              <a:rPr lang="ru-RU" smtClean="0"/>
              <a:t>08.07.2023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94FCC439-0606-D0E8-D3DD-3A3643127B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8786F207-6F41-EFDC-7F05-19970F5C69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6FFD4C-09D0-41F7-97B1-3296739A113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847135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D38CAC8-F9F1-4ABE-BD84-F2B64A6E81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AF5FD6F3-3069-F34B-91F2-EDE2988442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9737D-EAA4-41BF-B8A6-8D488671DC4A}" type="datetimeFigureOut">
              <a:rPr lang="ru-RU" smtClean="0"/>
              <a:t>08.07.2023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CFC2E03F-4246-CEDA-5FA9-99D1108C56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53116330-2CB3-AFF9-EEE4-4E70B94488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6FFD4C-09D0-41F7-97B1-3296739A113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72663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A9132919-CE48-9995-52CF-B74EE716E0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9737D-EAA4-41BF-B8A6-8D488671DC4A}" type="datetimeFigureOut">
              <a:rPr lang="ru-RU" smtClean="0"/>
              <a:t>08.07.2023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808C8E0F-8425-F1F3-2827-3F12404E66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DDAF6E0-55B8-A554-72D4-F727B6D356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6FFD4C-09D0-41F7-97B1-3296739A113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718140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13FC4F7-A457-BD88-D596-E98F8EFABC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5B7376A-0215-A950-E510-173BE517C9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A7EA0273-5155-22EB-A664-9FF9FCAC9D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06F2558-1732-3087-00BF-2AAD50BC9D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9737D-EAA4-41BF-B8A6-8D488671DC4A}" type="datetimeFigureOut">
              <a:rPr lang="ru-RU" smtClean="0"/>
              <a:t>08.07.2023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C81A62A0-3D96-4B99-E864-34D9C5CD68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E93DFA2-565A-6E06-EAB1-413F0D07FE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6FFD4C-09D0-41F7-97B1-3296739A113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727445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E71D32A-4E4A-804D-C27A-06C567BF4F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285B15FF-8446-EB3F-60CA-EBA5E12D768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7D7F0034-4BCB-F6D8-23A5-61E99439E0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7E25EC3-C497-3A7B-5A27-DAD19B0290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9737D-EAA4-41BF-B8A6-8D488671DC4A}" type="datetimeFigureOut">
              <a:rPr lang="ru-RU" smtClean="0"/>
              <a:t>08.07.2023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F62AA9F-D5DC-8962-C2D8-92879FF790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310F2CF-DC76-49EC-E098-B1D1F91524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6FFD4C-09D0-41F7-97B1-3296739A113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870202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6773D67-8FFB-FDAE-A6CC-92D808423E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B310D510-6E2C-EFB4-A322-71DB6E4451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4E7FFAA-872F-0AD6-6EB2-23CE077D6D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9737D-EAA4-41BF-B8A6-8D488671DC4A}" type="datetimeFigureOut">
              <a:rPr lang="ru-RU" smtClean="0"/>
              <a:t>08.07.2023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09FCF7E-1BFB-6713-31E6-9AD3094D6F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3C61104-5BEB-7669-0738-BF0CD8E57A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6FFD4C-09D0-41F7-97B1-3296739A113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613014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FE689F63-C234-8A7C-A3CA-0C02C679236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24FC2459-7161-1A6B-E75D-DA783177C9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A724A35-1AD9-D20C-8F36-1F7AB50510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9737D-EAA4-41BF-B8A6-8D488671DC4A}" type="datetimeFigureOut">
              <a:rPr lang="ru-RU" smtClean="0"/>
              <a:t>08.07.2023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E415EC4-E0CD-5246-3318-FD121EBCB3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89C455C-7FC0-5BDD-71A6-3451B7F9F8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6FFD4C-09D0-41F7-97B1-3296739A113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550238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08CF95B-689E-772A-616F-3772DD8663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BEA3C68-D5AC-B64C-D4E8-9E2C59A936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E6C8828-F45C-035E-BE81-EA2F7209BB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D9737D-EAA4-41BF-B8A6-8D488671DC4A}" type="datetimeFigureOut">
              <a:rPr lang="ru-RU" smtClean="0"/>
              <a:t>08.07.2023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7514231-AB77-A0C2-CAAB-607A0CF666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3DB0992-13DA-08BD-3810-39CE229DA4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6FFD4C-09D0-41F7-97B1-3296739A113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21526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8E2B56B-64FF-AF6F-E01C-23170D50FB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90545"/>
            <a:ext cx="10515600" cy="518453"/>
          </a:xfrm>
        </p:spPr>
        <p:txBody>
          <a:bodyPr>
            <a:normAutofit fontScale="90000"/>
          </a:bodyPr>
          <a:lstStyle/>
          <a:p>
            <a:pPr algn="ctr"/>
            <a: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Реструктуризация контракта с </a:t>
            </a:r>
            <a:r>
              <a:rPr lang="ru-RU" sz="32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«Венгрия АГ»</a:t>
            </a:r>
            <a:endParaRPr lang="ru-RU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8" name="Диаграмма 7">
            <a:extLst>
              <a:ext uri="{FF2B5EF4-FFF2-40B4-BE49-F238E27FC236}">
                <a16:creationId xmlns:a16="http://schemas.microsoft.com/office/drawing/2014/main" id="{490A418C-B236-04CB-64A8-21362F546E0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76221407"/>
              </p:ext>
            </p:extLst>
          </p:nvPr>
        </p:nvGraphicFramePr>
        <p:xfrm>
          <a:off x="347014" y="1617754"/>
          <a:ext cx="2833526" cy="242025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4" name="Диаграмма 13">
            <a:extLst>
              <a:ext uri="{FF2B5EF4-FFF2-40B4-BE49-F238E27FC236}">
                <a16:creationId xmlns:a16="http://schemas.microsoft.com/office/drawing/2014/main" id="{97B2235F-8153-A85C-82AB-334DBD3ECB0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5709543"/>
              </p:ext>
            </p:extLst>
          </p:nvPr>
        </p:nvGraphicFramePr>
        <p:xfrm>
          <a:off x="3180540" y="1600200"/>
          <a:ext cx="4198668" cy="350451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5" name="Диаграмма 14">
            <a:extLst>
              <a:ext uri="{FF2B5EF4-FFF2-40B4-BE49-F238E27FC236}">
                <a16:creationId xmlns:a16="http://schemas.microsoft.com/office/drawing/2014/main" id="{6FF52CC9-A16C-3216-D0BF-C54F84FA71E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35515729"/>
              </p:ext>
            </p:extLst>
          </p:nvPr>
        </p:nvGraphicFramePr>
        <p:xfrm>
          <a:off x="7050024" y="1600200"/>
          <a:ext cx="4893817" cy="392514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cxnSp>
        <p:nvCxnSpPr>
          <p:cNvPr id="19" name="Прямая соединительная линия 18">
            <a:extLst>
              <a:ext uri="{FF2B5EF4-FFF2-40B4-BE49-F238E27FC236}">
                <a16:creationId xmlns:a16="http://schemas.microsoft.com/office/drawing/2014/main" id="{E4CEDFC2-14DB-F988-96C2-D4A2562851D9}"/>
              </a:ext>
            </a:extLst>
          </p:cNvPr>
          <p:cNvCxnSpPr>
            <a:cxnSpLocks/>
          </p:cNvCxnSpPr>
          <p:nvPr/>
        </p:nvCxnSpPr>
        <p:spPr>
          <a:xfrm>
            <a:off x="3180540" y="1227661"/>
            <a:ext cx="0" cy="4893292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26177D2C-6FAF-62B9-57BF-C37EEC32A5CD}"/>
              </a:ext>
            </a:extLst>
          </p:cNvPr>
          <p:cNvSpPr txBox="1"/>
          <p:nvPr/>
        </p:nvSpPr>
        <p:spPr>
          <a:xfrm>
            <a:off x="248159" y="4558073"/>
            <a:ext cx="26600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Потеря ПХГ Венгрии</a:t>
            </a:r>
          </a:p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1% рынка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45E7939-4DD5-350E-18C4-0429E94E4503}"/>
              </a:ext>
            </a:extLst>
          </p:cNvPr>
          <p:cNvSpPr txBox="1"/>
          <p:nvPr/>
        </p:nvSpPr>
        <p:spPr>
          <a:xfrm>
            <a:off x="3752728" y="5563986"/>
            <a:ext cx="35971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Уменьшение стоимости хранения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8EA1188-89E5-62F7-070B-67DFD3A39E04}"/>
              </a:ext>
            </a:extLst>
          </p:cNvPr>
          <p:cNvSpPr txBox="1"/>
          <p:nvPr/>
        </p:nvSpPr>
        <p:spPr>
          <a:xfrm>
            <a:off x="7379208" y="5591129"/>
            <a:ext cx="48938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Перенос денежных потоков на ранний период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Увеличение суточного отбора ПХГ Австрия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3835E76-193F-F407-4860-9E593DE97EC3}"/>
              </a:ext>
            </a:extLst>
          </p:cNvPr>
          <p:cNvSpPr txBox="1"/>
          <p:nvPr/>
        </p:nvSpPr>
        <p:spPr>
          <a:xfrm>
            <a:off x="6348707" y="1197974"/>
            <a:ext cx="35971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u="sng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Положительные стороны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6956119-EBB4-E0C3-8C8C-F48AE9BCC768}"/>
              </a:ext>
            </a:extLst>
          </p:cNvPr>
          <p:cNvSpPr txBox="1"/>
          <p:nvPr/>
        </p:nvSpPr>
        <p:spPr>
          <a:xfrm>
            <a:off x="248159" y="1197974"/>
            <a:ext cx="35971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Отрицательные стороны</a:t>
            </a:r>
          </a:p>
        </p:txBody>
      </p:sp>
    </p:spTree>
    <p:extLst>
      <p:ext uri="{BB962C8B-B14F-4D97-AF65-F5344CB8AC3E}">
        <p14:creationId xmlns:p14="http://schemas.microsoft.com/office/powerpoint/2010/main" val="13259636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D563546C-95D3-CDC0-D786-9B65977F91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92557"/>
            <a:ext cx="10515600" cy="518453"/>
          </a:xfrm>
        </p:spPr>
        <p:txBody>
          <a:bodyPr>
            <a:normAutofit fontScale="90000"/>
          </a:bodyPr>
          <a:lstStyle/>
          <a:p>
            <a:pPr algn="ctr"/>
            <a: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Реструктуризация контракта с </a:t>
            </a:r>
            <a:r>
              <a:rPr lang="ru-RU" sz="32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«Венгрия АГ»</a:t>
            </a:r>
            <a:endParaRPr lang="ru-RU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6" name="Диаграмма 5">
            <a:extLst>
              <a:ext uri="{FF2B5EF4-FFF2-40B4-BE49-F238E27FC236}">
                <a16:creationId xmlns:a16="http://schemas.microsoft.com/office/drawing/2014/main" id="{C48ABE9C-CFAB-5690-A863-475FB622D4A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44711399"/>
              </p:ext>
            </p:extLst>
          </p:nvPr>
        </p:nvGraphicFramePr>
        <p:xfrm>
          <a:off x="838200" y="1246972"/>
          <a:ext cx="6296082" cy="490693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cxnSp>
        <p:nvCxnSpPr>
          <p:cNvPr id="8" name="Прямая соединительная линия 7">
            <a:extLst>
              <a:ext uri="{FF2B5EF4-FFF2-40B4-BE49-F238E27FC236}">
                <a16:creationId xmlns:a16="http://schemas.microsoft.com/office/drawing/2014/main" id="{8F3F3B00-4B3A-D475-D0A7-85636DBBB5E7}"/>
              </a:ext>
            </a:extLst>
          </p:cNvPr>
          <p:cNvCxnSpPr/>
          <p:nvPr/>
        </p:nvCxnSpPr>
        <p:spPr>
          <a:xfrm>
            <a:off x="2451354" y="4571179"/>
            <a:ext cx="5340096" cy="0"/>
          </a:xfrm>
          <a:prstGeom prst="line">
            <a:avLst/>
          </a:prstGeom>
          <a:ln w="28575">
            <a:prstDash val="dash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0" name="Прямая соединительная линия 9">
            <a:extLst>
              <a:ext uri="{FF2B5EF4-FFF2-40B4-BE49-F238E27FC236}">
                <a16:creationId xmlns:a16="http://schemas.microsoft.com/office/drawing/2014/main" id="{E159757E-CA7F-D5A3-9AF6-648C04C06B8C}"/>
              </a:ext>
            </a:extLst>
          </p:cNvPr>
          <p:cNvCxnSpPr/>
          <p:nvPr/>
        </p:nvCxnSpPr>
        <p:spPr>
          <a:xfrm>
            <a:off x="5121402" y="2354614"/>
            <a:ext cx="2752344" cy="0"/>
          </a:xfrm>
          <a:prstGeom prst="line">
            <a:avLst/>
          </a:prstGeom>
          <a:ln w="28575">
            <a:prstDash val="dash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2" name="Прямая со стрелкой 11">
            <a:extLst>
              <a:ext uri="{FF2B5EF4-FFF2-40B4-BE49-F238E27FC236}">
                <a16:creationId xmlns:a16="http://schemas.microsoft.com/office/drawing/2014/main" id="{BB494399-252F-167A-8F10-2EACC258F7EA}"/>
              </a:ext>
            </a:extLst>
          </p:cNvPr>
          <p:cNvCxnSpPr>
            <a:cxnSpLocks/>
          </p:cNvCxnSpPr>
          <p:nvPr/>
        </p:nvCxnSpPr>
        <p:spPr>
          <a:xfrm>
            <a:off x="7791450" y="2354614"/>
            <a:ext cx="0" cy="2216565"/>
          </a:xfrm>
          <a:prstGeom prst="straightConnector1">
            <a:avLst/>
          </a:prstGeom>
          <a:ln w="57150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234DC8C1-8B59-1057-1724-966637AF0833}"/>
              </a:ext>
            </a:extLst>
          </p:cNvPr>
          <p:cNvSpPr txBox="1"/>
          <p:nvPr/>
        </p:nvSpPr>
        <p:spPr>
          <a:xfrm rot="16200000">
            <a:off x="6707734" y="3109529"/>
            <a:ext cx="114005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8 679</a:t>
            </a:r>
          </a:p>
          <a:p>
            <a:pPr algn="ctr"/>
            <a:r>
              <a:rPr lang="ru-RU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тыс. Евро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91CA775-0C2E-BBF7-00A2-5E0DA12A569D}"/>
              </a:ext>
            </a:extLst>
          </p:cNvPr>
          <p:cNvSpPr txBox="1"/>
          <p:nvPr/>
        </p:nvSpPr>
        <p:spPr>
          <a:xfrm>
            <a:off x="8067575" y="4282829"/>
            <a:ext cx="3845989" cy="1477328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ru-RU" u="sng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Рекомендовано по итогам расчетов:</a:t>
            </a:r>
          </a:p>
          <a:p>
            <a:endParaRPr lang="ru-RU" u="sng" dirty="0">
              <a:solidFill>
                <a:schemeClr val="accent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принять предложение «Венгрия АГ» </a:t>
            </a:r>
          </a:p>
          <a:p>
            <a:pPr algn="ctr"/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несмотря на потерю возможности </a:t>
            </a:r>
          </a:p>
          <a:p>
            <a:pPr algn="ctr"/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использования ПХГ Венгрия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2952452-6E61-B119-BB25-C3DAE1394722}"/>
              </a:ext>
            </a:extLst>
          </p:cNvPr>
          <p:cNvSpPr txBox="1"/>
          <p:nvPr/>
        </p:nvSpPr>
        <p:spPr>
          <a:xfrm>
            <a:off x="7836774" y="1975006"/>
            <a:ext cx="430758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dirty="0"/>
              <a:t>Разница в приведенной к </a:t>
            </a:r>
          </a:p>
          <a:p>
            <a:pPr algn="ctr"/>
            <a:r>
              <a:rPr lang="ru-RU" dirty="0"/>
              <a:t>текущей дате выручке</a:t>
            </a:r>
          </a:p>
          <a:p>
            <a:pPr algn="ctr"/>
            <a:r>
              <a:rPr lang="ru-RU" dirty="0"/>
              <a:t>в пользу рассматриваемого предложения</a:t>
            </a:r>
          </a:p>
          <a:p>
            <a:pPr algn="ctr"/>
            <a:r>
              <a:rPr lang="ru-RU" dirty="0"/>
              <a:t> компании «Венгрия АГ»</a:t>
            </a: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6C8108E5-E18F-C13D-310B-D5D5EC9024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13628</a:t>
            </a:r>
            <a:r>
              <a:rPr kumimoji="0" lang="ru-RU" altLang="ru-RU" sz="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ru-RU" altLang="ru-RU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3844996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400</TotalTime>
  <Words>111</Words>
  <Application>Microsoft Office PowerPoint</Application>
  <PresentationFormat>Широкоэкранный</PresentationFormat>
  <Paragraphs>39</Paragraphs>
  <Slides>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</vt:i4>
      </vt:variant>
    </vt:vector>
  </HeadingPairs>
  <TitlesOfParts>
    <vt:vector size="8" baseType="lpstr">
      <vt:lpstr>Arial</vt:lpstr>
      <vt:lpstr>Calibri</vt:lpstr>
      <vt:lpstr>Calibri Light</vt:lpstr>
      <vt:lpstr>Courier New</vt:lpstr>
      <vt:lpstr>Times New Roman</vt:lpstr>
      <vt:lpstr>Тема Office</vt:lpstr>
      <vt:lpstr>Реструктуризация контракта с «Венгрия АГ»</vt:lpstr>
      <vt:lpstr>Реструктуризация контракта с «Венгрия АГ»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Реструктуризация контракта</dc:title>
  <dc:creator>Levchenko Aleksey R.</dc:creator>
  <cp:lastModifiedBy>Levchenko Aleksey R.</cp:lastModifiedBy>
  <cp:revision>20</cp:revision>
  <dcterms:created xsi:type="dcterms:W3CDTF">2023-07-01T11:10:41Z</dcterms:created>
  <dcterms:modified xsi:type="dcterms:W3CDTF">2023-07-08T20:03:26Z</dcterms:modified>
</cp:coreProperties>
</file>