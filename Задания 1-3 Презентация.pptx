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0" r:id="rId2"/>
    <p:sldId id="295" r:id="rId3"/>
    <p:sldId id="296" r:id="rId4"/>
    <p:sldId id="297" r:id="rId5"/>
    <p:sldId id="263" r:id="rId6"/>
    <p:sldId id="264" r:id="rId7"/>
    <p:sldId id="265" r:id="rId8"/>
    <p:sldId id="261" r:id="rId9"/>
    <p:sldId id="266" r:id="rId10"/>
    <p:sldId id="290" r:id="rId11"/>
    <p:sldId id="294" r:id="rId12"/>
    <p:sldId id="287" r:id="rId13"/>
    <p:sldId id="288" r:id="rId14"/>
    <p:sldId id="289" r:id="rId15"/>
    <p:sldId id="283" r:id="rId16"/>
    <p:sldId id="262" r:id="rId17"/>
    <p:sldId id="278" r:id="rId18"/>
    <p:sldId id="269" r:id="rId19"/>
    <p:sldId id="268" r:id="rId20"/>
    <p:sldId id="284" r:id="rId21"/>
    <p:sldId id="285" r:id="rId22"/>
    <p:sldId id="28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1093" autoAdjust="0"/>
  </p:normalViewPr>
  <p:slideViewPr>
    <p:cSldViewPr snapToGrid="0">
      <p:cViewPr>
        <p:scale>
          <a:sx n="70" d="100"/>
          <a:sy n="70" d="100"/>
        </p:scale>
        <p:origin x="54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493F5-2D19-42FB-BCCC-FD2C1ADDB30D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8513B-3D29-4296-B027-D7B2BD6D76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f = </a:t>
            </a:r>
            <a:r>
              <a:rPr lang="en-US" dirty="0" err="1"/>
              <a:t>pd.read_excel</a:t>
            </a:r>
            <a:r>
              <a:rPr lang="en-US" dirty="0"/>
              <a:t>("TTF quotes.xlsx")</a:t>
            </a:r>
          </a:p>
          <a:p>
            <a:r>
              <a:rPr lang="en-US" dirty="0"/>
              <a:t>f = list(f['Unnamed: 3'])</a:t>
            </a:r>
          </a:p>
          <a:p>
            <a:r>
              <a:rPr lang="en-US" dirty="0"/>
              <a:t>f = f[2:]</a:t>
            </a:r>
          </a:p>
          <a:p>
            <a:r>
              <a:rPr lang="en-US" dirty="0"/>
              <a:t>f2 = []</a:t>
            </a:r>
          </a:p>
          <a:p>
            <a:r>
              <a:rPr lang="en-US" dirty="0"/>
              <a:t>for i in range (</a:t>
            </a:r>
            <a:r>
              <a:rPr lang="en-US" dirty="0" err="1"/>
              <a:t>len</a:t>
            </a:r>
            <a:r>
              <a:rPr lang="en-US" dirty="0"/>
              <a:t>(f)-1):</a:t>
            </a:r>
          </a:p>
          <a:p>
            <a:r>
              <a:rPr lang="en-US" dirty="0"/>
              <a:t>    if f[i+1]&gt;f[i]:</a:t>
            </a:r>
          </a:p>
          <a:p>
            <a:r>
              <a:rPr lang="en-US" dirty="0"/>
              <a:t>        f2.append((f[i+1]+2)*1000 - (f[i]+2)*1000)</a:t>
            </a:r>
          </a:p>
          <a:p>
            <a:r>
              <a:rPr lang="en-US" dirty="0"/>
              <a:t>print(sum(f2))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8513B-3D29-4296-B027-D7B2BD6D76A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15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import random</a:t>
            </a:r>
          </a:p>
          <a:p>
            <a:r>
              <a:rPr lang="en-US" dirty="0"/>
              <a:t>from datetime import datetime, date, time</a:t>
            </a:r>
          </a:p>
          <a:p>
            <a:r>
              <a:rPr lang="en-US" dirty="0"/>
              <a:t>f = </a:t>
            </a:r>
            <a:r>
              <a:rPr lang="en-US" dirty="0" err="1"/>
              <a:t>pd.read_excel</a:t>
            </a:r>
            <a:r>
              <a:rPr lang="en-US" dirty="0"/>
              <a:t>("TTF quotes.xlsx")</a:t>
            </a:r>
          </a:p>
          <a:p>
            <a:r>
              <a:rPr lang="en-US" dirty="0"/>
              <a:t>f = list(f['Unnamed: 3'])</a:t>
            </a:r>
          </a:p>
          <a:p>
            <a:r>
              <a:rPr lang="en-US" dirty="0"/>
              <a:t>f = f[2:]</a:t>
            </a:r>
          </a:p>
          <a:p>
            <a:r>
              <a:rPr lang="en-US" dirty="0"/>
              <a:t>for i in range (</a:t>
            </a:r>
            <a:r>
              <a:rPr lang="en-US" dirty="0" err="1"/>
              <a:t>len</a:t>
            </a:r>
            <a:r>
              <a:rPr lang="en-US" dirty="0"/>
              <a:t>(f)):</a:t>
            </a:r>
          </a:p>
          <a:p>
            <a:r>
              <a:rPr lang="en-US" dirty="0"/>
              <a:t>    if f[i] &lt; 100:</a:t>
            </a:r>
          </a:p>
          <a:p>
            <a:r>
              <a:rPr lang="en-US" dirty="0"/>
              <a:t>        f[i] = f[1]</a:t>
            </a:r>
          </a:p>
          <a:p>
            <a:r>
              <a:rPr lang="en-US" dirty="0" err="1"/>
              <a:t>sr</a:t>
            </a:r>
            <a:r>
              <a:rPr lang="en-US" dirty="0"/>
              <a:t> = sum(f)/</a:t>
            </a:r>
            <a:r>
              <a:rPr lang="en-US" dirty="0" err="1"/>
              <a:t>len</a:t>
            </a:r>
            <a:r>
              <a:rPr lang="en-US" dirty="0"/>
              <a:t>(f)</a:t>
            </a:r>
          </a:p>
          <a:p>
            <a:r>
              <a:rPr lang="en-US" dirty="0" err="1"/>
              <a:t>otkl</a:t>
            </a:r>
            <a:r>
              <a:rPr lang="en-US" dirty="0"/>
              <a:t> = 0</a:t>
            </a:r>
          </a:p>
          <a:p>
            <a:r>
              <a:rPr lang="en-US" dirty="0"/>
              <a:t>for i in range (</a:t>
            </a:r>
            <a:r>
              <a:rPr lang="en-US" dirty="0" err="1"/>
              <a:t>len</a:t>
            </a:r>
            <a:r>
              <a:rPr lang="en-US" dirty="0"/>
              <a:t>(f)):</a:t>
            </a:r>
          </a:p>
          <a:p>
            <a:r>
              <a:rPr lang="en-US" dirty="0"/>
              <a:t>    </a:t>
            </a:r>
            <a:r>
              <a:rPr lang="en-US" dirty="0" err="1"/>
              <a:t>otkl</a:t>
            </a:r>
            <a:r>
              <a:rPr lang="en-US" dirty="0"/>
              <a:t> = </a:t>
            </a:r>
            <a:r>
              <a:rPr lang="en-US" dirty="0" err="1"/>
              <a:t>otkl</a:t>
            </a:r>
            <a:r>
              <a:rPr lang="en-US" dirty="0"/>
              <a:t> + (f[i] - </a:t>
            </a:r>
            <a:r>
              <a:rPr lang="en-US" dirty="0" err="1"/>
              <a:t>sr</a:t>
            </a:r>
            <a:r>
              <a:rPr lang="en-US" dirty="0"/>
              <a:t>)**2</a:t>
            </a:r>
          </a:p>
          <a:p>
            <a:r>
              <a:rPr lang="en-US" dirty="0" err="1"/>
              <a:t>otkl</a:t>
            </a:r>
            <a:r>
              <a:rPr lang="en-US" dirty="0"/>
              <a:t> = (</a:t>
            </a:r>
            <a:r>
              <a:rPr lang="en-US" dirty="0" err="1"/>
              <a:t>otkl</a:t>
            </a:r>
            <a:r>
              <a:rPr lang="en-US" dirty="0"/>
              <a:t>/(</a:t>
            </a:r>
            <a:r>
              <a:rPr lang="en-US" dirty="0" err="1"/>
              <a:t>len</a:t>
            </a:r>
            <a:r>
              <a:rPr lang="en-US" dirty="0"/>
              <a:t>(f)-1))**(0.5)/(2.8**(0.5))</a:t>
            </a:r>
          </a:p>
          <a:p>
            <a:r>
              <a:rPr lang="en-US" dirty="0" err="1"/>
              <a:t>volat</a:t>
            </a:r>
            <a:r>
              <a:rPr lang="en-US" dirty="0"/>
              <a:t> = </a:t>
            </a:r>
            <a:r>
              <a:rPr lang="en-US" dirty="0" err="1"/>
              <a:t>otkl</a:t>
            </a:r>
            <a:r>
              <a:rPr lang="en-US" dirty="0"/>
              <a:t>*(((date(2019,3,31)-date(2018,10,1)).days/252)**0.5)</a:t>
            </a:r>
          </a:p>
          <a:p>
            <a:r>
              <a:rPr lang="en-US" dirty="0"/>
              <a:t>summa = 0</a:t>
            </a:r>
          </a:p>
          <a:p>
            <a:r>
              <a:rPr lang="en-US" dirty="0"/>
              <a:t>for i in range (1000):</a:t>
            </a:r>
          </a:p>
          <a:p>
            <a:r>
              <a:rPr lang="en-US" dirty="0"/>
              <a:t>    a = []</a:t>
            </a:r>
          </a:p>
          <a:p>
            <a:r>
              <a:rPr lang="en-US" dirty="0"/>
              <a:t>    a2 = []</a:t>
            </a:r>
          </a:p>
          <a:p>
            <a:r>
              <a:rPr lang="en-US" dirty="0"/>
              <a:t>    for i in range ((date(2019,3,31)-date(2018,10,1)).days):</a:t>
            </a:r>
          </a:p>
          <a:p>
            <a:r>
              <a:rPr lang="en-US" dirty="0"/>
              <a:t>        b = </a:t>
            </a:r>
            <a:r>
              <a:rPr lang="en-US" dirty="0" err="1"/>
              <a:t>random.randrange</a:t>
            </a:r>
            <a:r>
              <a:rPr lang="en-US" dirty="0"/>
              <a:t>(int(266-volat), int(266+volat))</a:t>
            </a:r>
          </a:p>
          <a:p>
            <a:r>
              <a:rPr lang="en-US" dirty="0"/>
              <a:t>        </a:t>
            </a:r>
            <a:r>
              <a:rPr lang="en-US" dirty="0" err="1"/>
              <a:t>a.append</a:t>
            </a:r>
            <a:r>
              <a:rPr lang="en-US" dirty="0"/>
              <a:t>(b)</a:t>
            </a:r>
          </a:p>
          <a:p>
            <a:r>
              <a:rPr lang="en-US" dirty="0"/>
              <a:t>    for i in range (</a:t>
            </a:r>
            <a:r>
              <a:rPr lang="en-US" dirty="0" err="1"/>
              <a:t>len</a:t>
            </a:r>
            <a:r>
              <a:rPr lang="en-US" dirty="0"/>
              <a:t>(a)-1):</a:t>
            </a:r>
          </a:p>
          <a:p>
            <a:r>
              <a:rPr lang="en-US" dirty="0"/>
              <a:t>        if a[i+1]&gt;a[i]:</a:t>
            </a:r>
          </a:p>
          <a:p>
            <a:r>
              <a:rPr lang="en-US" dirty="0"/>
              <a:t>            a2.append((a[i+1]+2)*1000-(a[i]+2)*1000)</a:t>
            </a:r>
          </a:p>
          <a:p>
            <a:r>
              <a:rPr lang="en-US" dirty="0"/>
              <a:t>    summa = summa + sum(a2)</a:t>
            </a:r>
          </a:p>
          <a:p>
            <a:r>
              <a:rPr lang="en-US" dirty="0"/>
              <a:t>print(summa/1000)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8513B-3D29-4296-B027-D7B2BD6D76A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788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FA637-8C01-F7A8-8613-3AB24D31B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F567FA-4912-6832-CF8F-E20A0A37E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9EF02-C673-BA80-DCAB-B681E762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F6C93D-C9C4-71D3-EBE7-F1018B7A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CC12E-BE3C-8C1F-471A-12FE4286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47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97362-1C3E-C7EB-8E25-EB922366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20127A-9A44-0B78-9439-2D6FC49A6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9D44B6-32F4-D704-F6E6-1F80F4C9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6E1022-8F19-B212-5196-7988F28E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48C76-CA56-9AE6-0679-AF9E631A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61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27A7E-4E57-85A6-A058-5F3B8ADC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990B5B-9E10-BEEC-04A7-848A74D88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A6E43-6B3F-F147-D1E9-55DE9F0E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84D565-6297-6ABD-7A7A-50E07A22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447695-D1F3-7E5B-DD13-54A1BCE5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90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F84FC-83FD-2304-181A-00871696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0E5B8-46B2-6C1F-0E48-E10E3AF2F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D8F031-384F-2260-8F35-2E96E8117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D7B166-8776-91D7-C9D8-B45EBAD7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41FD09-CE03-C6BC-99CD-8EC6925C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61ED08-6A34-4549-6D9A-1276F123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87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11EC8-9899-8C80-98AE-FD93AEA0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822E23-4F2C-A14C-203E-16E8F00F2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0F4BCF-6938-6FF8-1112-725A60602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4ADC2D-0509-E7C1-B5A3-F72DD6AE5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902E73-7DBB-0754-3063-690070548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CF3162-9007-F4A5-5D91-A35D5718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013EA1-7732-769A-ECAC-3B12B0C3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2D1865-6289-5B22-1B2B-0D5365E7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61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19EB8-52CE-D786-6D0F-C49D1764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4BE319-21CD-1ABC-EE1D-84E7B837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1959D7-B1E7-F400-5793-B241F082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42923F-28AC-5E69-4E85-4F5A143D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05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B882A7-6DF9-7E05-B619-E26230A5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9435F6-06A5-E5CA-AF9B-413329A9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506ED6-0EEE-4AAB-C684-BF3BF119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58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5499C-8508-EF97-EC68-25797642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738AD-3B57-0B53-252D-3B723D192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FB327D-335E-BEFD-DB8D-2C876D135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CBF16A-F315-A95A-F220-0F7A7A74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2A8D38-DE1C-5FF8-639F-09AFD8F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F11403-C357-A1AE-B54E-93B10D70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80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FCFA8-7020-8E29-0F45-8C6F7B23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8B3A40-02ED-61C6-D13C-95913C590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C69201-B501-9BEB-E127-31BA717E6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4E20AE-67E3-4AFF-F794-EB9097BB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AD4924-C586-618D-5E45-D97D31A3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660CBD-9B1C-C7BB-8EDA-8C65381E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01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ED8C9-5C0D-A629-223B-CB7CB41F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6E030F-08A4-B5F9-34E2-4748F8210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0D2248-0927-394E-6088-150C047BA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62983-CC3F-53E9-F3B4-3B45E557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4EC31F-4174-E6FA-F568-9D11DF72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77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E70F0E-3ED1-7F1A-B31B-8B9FCB540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1F9B58-E32C-3B93-342C-ED1FC5F63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DB927C-0461-8CFD-D200-7C15A23D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5DC868-9F03-D720-ACA4-33101FE5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23BF9A-F441-CA17-3BE6-F2A28A61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5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8E1A0-7215-B44D-FB40-5B305D15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0917C4-7A70-30BF-128F-9264A75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A107B9-39B6-5E10-A1E2-286E6BB9A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6B693-B9C2-4DCB-9634-12AB0B5CFDB2}" type="datetimeFigureOut">
              <a:rPr lang="ru-RU" smtClean="0"/>
              <a:t>07.07.2023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935906-9BFF-5E42-0F66-1E3E6DEC1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9B8E-0B49-8A5A-93F8-3E3D76724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0E863-45D8-4B6B-B7AC-4EEAA24720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79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5D2F364-CD39-5E47-83B0-DBED701D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53" y="370048"/>
            <a:ext cx="1081269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Характеристика инструмента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01FF5-695D-F0F6-8F2A-61B3A64055BF}"/>
              </a:ext>
            </a:extLst>
          </p:cNvPr>
          <p:cNvSpPr txBox="1"/>
          <p:nvPr/>
        </p:nvSpPr>
        <p:spPr>
          <a:xfrm>
            <a:off x="1183429" y="1720840"/>
            <a:ext cx="9264716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Ограниченный период действия 1.10.2018 – 31.03.2019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Право Покупателя купить оговоренное количество товара в определенный день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или отказаться от покупки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Обязанность Продавца продать Покупателю оговоренное количество товара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Право Покупателя продать, полученный от Продавца товар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Установлена цена товара (формула расчета цены)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расчета предоставлен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-опцион</a:t>
            </a:r>
          </a:p>
        </p:txBody>
      </p:sp>
    </p:spTree>
    <p:extLst>
      <p:ext uri="{BB962C8B-B14F-4D97-AF65-F5344CB8AC3E}">
        <p14:creationId xmlns:p14="http://schemas.microsoft.com/office/powerpoint/2010/main" val="130273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2FCD1F-6625-9B52-3E73-32E53AE8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53" y="370048"/>
            <a:ext cx="1081269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Расчет стоимости инструмента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7A14A-3B6F-0DD9-6DC4-253D306E414F}"/>
              </a:ext>
            </a:extLst>
          </p:cNvPr>
          <p:cNvSpPr txBox="1"/>
          <p:nvPr/>
        </p:nvSpPr>
        <p:spPr>
          <a:xfrm>
            <a:off x="1183429" y="1720840"/>
            <a:ext cx="996939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Максимальная прибыль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Покупателя в том случае, если Покупатель приобретает товар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в дни, предшествующие росту котировки и продает товар на следующий день.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стоимости: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Расчет суммы стоимостей покупки товара в дни предшествующие росту котировок.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Расчет суммы стоимостей продажи товара на следующий день.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Поиск разницы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9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84154B1-49FA-2D1C-FDA0-56026337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53" y="370048"/>
            <a:ext cx="1081269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Расчет стоимости инструмента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81C348-6773-33E0-5832-AACA9A7D7F79}"/>
                  </a:ext>
                </a:extLst>
              </p:cNvPr>
              <p:cNvSpPr txBox="1"/>
              <p:nvPr/>
            </p:nvSpPr>
            <p:spPr>
              <a:xfrm>
                <a:off x="689653" y="1540163"/>
                <a:ext cx="10936224" cy="4182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Монте-Карло</a:t>
                </a: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Начальная котировка на 1.10.2018 – 266,552 Евро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тыс.куб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Период 1.10.2018 – 31.03.03.2019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Волатильность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Годовая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Стандартно отклонение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  <m:t>(дневная котировка −средняя котировка)</m:t>
                                        </m:r>
                                      </m:e>
                                      <m:sup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число дней</m:t>
                                </m:r>
                              </m:den>
                            </m:f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ru-RU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1.06.2016 – 1.10.2018 (714 дней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nor/>
                              </m:rPr>
                              <a:rPr lang="ru-RU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252 торговых дня) = 2,83 года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14,79</a:t>
                </a: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З</m:t>
                    </m:r>
                    <m:r>
                      <m:rPr>
                        <m:nor/>
                      </m:rPr>
                      <a: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а период 1.10.2018 – 31.03.2019</m:t>
                    </m:r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Годовая волатильность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 </m:t>
                    </m:r>
                    <m:rad>
                      <m:radPr>
                        <m:degHide m:val="on"/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(182 дня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252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дня)</m:t>
                        </m:r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0,72</m:t>
                        </m:r>
                      </m:e>
                    </m:ra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12,55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81C348-6773-33E0-5832-AACA9A7D7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53" y="1540163"/>
                <a:ext cx="10936224" cy="4182235"/>
              </a:xfrm>
              <a:prstGeom prst="rect">
                <a:avLst/>
              </a:prstGeom>
              <a:blipFill>
                <a:blip r:embed="rId2"/>
                <a:stretch>
                  <a:fillRect l="-557" b="-11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98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91F87D6-6F16-CFFD-CCF1-F11E2284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53" y="370048"/>
            <a:ext cx="1081269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Расчет стоимости инструмента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49F40-EB43-92B3-9531-EFC816B080D1}"/>
              </a:ext>
            </a:extLst>
          </p:cNvPr>
          <p:cNvSpPr txBox="1"/>
          <p:nvPr/>
        </p:nvSpPr>
        <p:spPr>
          <a:xfrm>
            <a:off x="393192" y="1993392"/>
            <a:ext cx="118417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Прогнозируем котировки на период 1.06.2016 – 1.10.2018 с учетом волатильности и начального значения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Вычисляем разницу стоимостей покупки и продажи в дни, когда котировка растет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Суммируем разницу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итогом 1000 симуляций методом Монте-Карло стоимость составляет </a:t>
            </a:r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750 000,00 Евро</a:t>
            </a:r>
          </a:p>
        </p:txBody>
      </p:sp>
    </p:spTree>
    <p:extLst>
      <p:ext uri="{BB962C8B-B14F-4D97-AF65-F5344CB8AC3E}">
        <p14:creationId xmlns:p14="http://schemas.microsoft.com/office/powerpoint/2010/main" val="357542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178AA-06D2-D64B-7E83-2696F824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53" y="370048"/>
            <a:ext cx="1081269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Визуальная оценка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9F065A2B-50A1-C185-E121-E000D333D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5" y="1592870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B7EB224C-0F37-DED3-4D23-67561C1A6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269" y="1592869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77AD3A-3A30-9F56-8021-A062D6216E7B}"/>
              </a:ext>
            </a:extLst>
          </p:cNvPr>
          <p:cNvSpPr txBox="1"/>
          <p:nvPr/>
        </p:nvSpPr>
        <p:spPr>
          <a:xfrm>
            <a:off x="1209146" y="5768295"/>
            <a:ext cx="3739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не прослеживается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AAD42-C3E7-0F65-BE4F-85A41882CD12}"/>
              </a:ext>
            </a:extLst>
          </p:cNvPr>
          <p:cNvSpPr txBox="1"/>
          <p:nvPr/>
        </p:nvSpPr>
        <p:spPr>
          <a:xfrm>
            <a:off x="6965957" y="5768295"/>
            <a:ext cx="3739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не прослеживается</a:t>
            </a:r>
          </a:p>
        </p:txBody>
      </p:sp>
    </p:spTree>
    <p:extLst>
      <p:ext uri="{BB962C8B-B14F-4D97-AF65-F5344CB8AC3E}">
        <p14:creationId xmlns:p14="http://schemas.microsoft.com/office/powerpoint/2010/main" val="256036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D075005-AB50-EADE-040B-35F56FA8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39" y="326088"/>
            <a:ext cx="10864921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Визуальная оценка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1D3657-A94F-26D5-04FB-869AC140B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79" y="1577672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6358586-5E7A-5F77-FAD1-6FA0E1326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77671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6ADEA38-449B-B4DD-8C6A-52C8331CF49C}"/>
              </a:ext>
            </a:extLst>
          </p:cNvPr>
          <p:cNvCxnSpPr>
            <a:cxnSpLocks/>
          </p:cNvCxnSpPr>
          <p:nvPr/>
        </p:nvCxnSpPr>
        <p:spPr>
          <a:xfrm flipV="1">
            <a:off x="6914508" y="2126751"/>
            <a:ext cx="4017195" cy="2887038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014C9C18-0C12-0159-955B-D384DD4D8AC5}"/>
              </a:ext>
            </a:extLst>
          </p:cNvPr>
          <p:cNvSpPr/>
          <p:nvPr/>
        </p:nvSpPr>
        <p:spPr>
          <a:xfrm>
            <a:off x="1140431" y="3051192"/>
            <a:ext cx="4109663" cy="1387244"/>
          </a:xfrm>
          <a:custGeom>
            <a:avLst/>
            <a:gdLst>
              <a:gd name="connsiteX0" fmla="*/ 0 w 4109663"/>
              <a:gd name="connsiteY0" fmla="*/ 1387244 h 1387244"/>
              <a:gd name="connsiteX1" fmla="*/ 729466 w 4109663"/>
              <a:gd name="connsiteY1" fmla="*/ 329006 h 1387244"/>
              <a:gd name="connsiteX2" fmla="*/ 1561672 w 4109663"/>
              <a:gd name="connsiteY2" fmla="*/ 1048197 h 1387244"/>
              <a:gd name="connsiteX3" fmla="*/ 2332234 w 4109663"/>
              <a:gd name="connsiteY3" fmla="*/ 233 h 1387244"/>
              <a:gd name="connsiteX4" fmla="*/ 3092522 w 4109663"/>
              <a:gd name="connsiteY4" fmla="*/ 945455 h 1387244"/>
              <a:gd name="connsiteX5" fmla="*/ 4109663 w 4109663"/>
              <a:gd name="connsiteY5" fmla="*/ 195442 h 1387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9663" h="1387244">
                <a:moveTo>
                  <a:pt x="0" y="1387244"/>
                </a:moveTo>
                <a:cubicBezTo>
                  <a:pt x="234593" y="886379"/>
                  <a:pt x="469187" y="385514"/>
                  <a:pt x="729466" y="329006"/>
                </a:cubicBezTo>
                <a:cubicBezTo>
                  <a:pt x="989745" y="272498"/>
                  <a:pt x="1294544" y="1102992"/>
                  <a:pt x="1561672" y="1048197"/>
                </a:cubicBezTo>
                <a:cubicBezTo>
                  <a:pt x="1828800" y="993402"/>
                  <a:pt x="2077092" y="17357"/>
                  <a:pt x="2332234" y="233"/>
                </a:cubicBezTo>
                <a:cubicBezTo>
                  <a:pt x="2587376" y="-16891"/>
                  <a:pt x="2796284" y="912920"/>
                  <a:pt x="3092522" y="945455"/>
                </a:cubicBezTo>
                <a:cubicBezTo>
                  <a:pt x="3388760" y="977990"/>
                  <a:pt x="3749211" y="586716"/>
                  <a:pt x="4109663" y="195442"/>
                </a:cubicBezTo>
              </a:path>
            </a:pathLst>
          </a:cu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804ED-1BCC-B0FF-3FE8-59E66F803C20}"/>
              </a:ext>
            </a:extLst>
          </p:cNvPr>
          <p:cNvSpPr txBox="1"/>
          <p:nvPr/>
        </p:nvSpPr>
        <p:spPr>
          <a:xfrm>
            <a:off x="1874227" y="5818689"/>
            <a:ext cx="2642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Сезонная зависимость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196F5-7CAB-FDCA-50A9-515053FBE0AC}"/>
              </a:ext>
            </a:extLst>
          </p:cNvPr>
          <p:cNvSpPr txBox="1"/>
          <p:nvPr/>
        </p:nvSpPr>
        <p:spPr>
          <a:xfrm>
            <a:off x="6134970" y="5846044"/>
            <a:ext cx="5576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зависимость с возрастающим трендом</a:t>
            </a:r>
          </a:p>
        </p:txBody>
      </p:sp>
    </p:spTree>
    <p:extLst>
      <p:ext uri="{BB962C8B-B14F-4D97-AF65-F5344CB8AC3E}">
        <p14:creationId xmlns:p14="http://schemas.microsoft.com/office/powerpoint/2010/main" val="87509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FC51669-F538-79AF-19FA-F1702941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365125"/>
            <a:ext cx="10870058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Визуальная оценка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D021A77-55F0-9509-6D4F-16059A73B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7" y="1577673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EC33A95-59F2-4936-F872-3A8494AAD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13" y="1577673"/>
            <a:ext cx="52578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6FBCA1-DC1D-ABD1-A230-27E9300D7364}"/>
              </a:ext>
            </a:extLst>
          </p:cNvPr>
          <p:cNvSpPr txBox="1"/>
          <p:nvPr/>
        </p:nvSpPr>
        <p:spPr>
          <a:xfrm>
            <a:off x="995670" y="5804898"/>
            <a:ext cx="452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обратная линейная зависимость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66DD2-2F3A-4351-6753-2EDE05989CF3}"/>
              </a:ext>
            </a:extLst>
          </p:cNvPr>
          <p:cNvSpPr txBox="1"/>
          <p:nvPr/>
        </p:nvSpPr>
        <p:spPr>
          <a:xfrm>
            <a:off x="6698593" y="5804898"/>
            <a:ext cx="3723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не прослеживается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2D5789B-2EF3-BD47-D0BE-DB403E2F7B98}"/>
              </a:ext>
            </a:extLst>
          </p:cNvPr>
          <p:cNvCxnSpPr>
            <a:cxnSpLocks/>
          </p:cNvCxnSpPr>
          <p:nvPr/>
        </p:nvCxnSpPr>
        <p:spPr>
          <a:xfrm>
            <a:off x="1187454" y="2239766"/>
            <a:ext cx="4136966" cy="2743200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9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45235-EB8C-EE11-BC70-353EBB1E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Зависимость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факторов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B585BD-143D-E3A3-1767-074A795E8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99" y="1425833"/>
            <a:ext cx="10338301" cy="4381339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F37AC0B-6F1A-1E5C-9F45-09DFD73D8CF4}"/>
              </a:ext>
            </a:extLst>
          </p:cNvPr>
          <p:cNvSpPr/>
          <p:nvPr/>
        </p:nvSpPr>
        <p:spPr>
          <a:xfrm>
            <a:off x="1664412" y="4136441"/>
            <a:ext cx="1387012" cy="49316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0F5D364-0691-6671-9DBC-84282960D634}"/>
              </a:ext>
            </a:extLst>
          </p:cNvPr>
          <p:cNvSpPr/>
          <p:nvPr/>
        </p:nvSpPr>
        <p:spPr>
          <a:xfrm>
            <a:off x="7130265" y="1960652"/>
            <a:ext cx="1397286" cy="49487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319AB7-B868-E608-F262-F1841ABCE587}"/>
              </a:ext>
            </a:extLst>
          </p:cNvPr>
          <p:cNvSpPr/>
          <p:nvPr/>
        </p:nvSpPr>
        <p:spPr>
          <a:xfrm>
            <a:off x="5732977" y="1960653"/>
            <a:ext cx="1397287" cy="494872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47ED9EF-4FA5-A78B-F548-8205BC87F337}"/>
              </a:ext>
            </a:extLst>
          </p:cNvPr>
          <p:cNvSpPr/>
          <p:nvPr/>
        </p:nvSpPr>
        <p:spPr>
          <a:xfrm>
            <a:off x="8527551" y="1960652"/>
            <a:ext cx="1397286" cy="49487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FBB81-E1EA-578A-D36D-3A43CC620638}"/>
              </a:ext>
            </a:extLst>
          </p:cNvPr>
          <p:cNvSpPr txBox="1"/>
          <p:nvPr/>
        </p:nvSpPr>
        <p:spPr>
          <a:xfrm>
            <a:off x="1370939" y="5919984"/>
            <a:ext cx="10535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подтверждает зависимость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факторов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(высокое значение корреляции)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CCDC43-101B-D913-F53B-18F53721DA17}"/>
              </a:ext>
            </a:extLst>
          </p:cNvPr>
          <p:cNvSpPr/>
          <p:nvPr/>
        </p:nvSpPr>
        <p:spPr>
          <a:xfrm>
            <a:off x="1664413" y="3527934"/>
            <a:ext cx="1387012" cy="57535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98CC1B-306F-47B5-B1EF-C10E46115D51}"/>
              </a:ext>
            </a:extLst>
          </p:cNvPr>
          <p:cNvSpPr/>
          <p:nvPr/>
        </p:nvSpPr>
        <p:spPr>
          <a:xfrm>
            <a:off x="1664412" y="4703852"/>
            <a:ext cx="1387013" cy="460144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28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График, снимок экран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CB4936D3-FC42-C92A-76A4-163232D2C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36" y="1690688"/>
            <a:ext cx="6264712" cy="4500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6073F39-F422-4351-29B2-4D4C7DE8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Зависимость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собственных предыдущих значений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64E134-3157-AF4D-D6AE-6B41DDC32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248" y="1908197"/>
            <a:ext cx="5238262" cy="219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3D3C7A-E3E2-75FC-8BBA-BA09B44D1145}"/>
              </a:ext>
            </a:extLst>
          </p:cNvPr>
          <p:cNvSpPr txBox="1"/>
          <p:nvPr/>
        </p:nvSpPr>
        <p:spPr>
          <a:xfrm>
            <a:off x="7010294" y="4609865"/>
            <a:ext cx="4900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 измерений с 0 по 43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оказывают влияние на текущие значения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57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084403-2DF3-0733-03AA-ED2D09A2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66" y="90922"/>
            <a:ext cx="11527604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Взаимная зависимость факторов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774E6FF-6C77-8205-2283-4B9BF84C2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58" y="1723798"/>
            <a:ext cx="2598278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0D4A17F-A856-8E46-67CF-19FDCD66D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02" y="3975111"/>
            <a:ext cx="2631231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FD2D8F-ABED-6A34-C649-056584B54297}"/>
              </a:ext>
            </a:extLst>
          </p:cNvPr>
          <p:cNvSpPr txBox="1"/>
          <p:nvPr/>
        </p:nvSpPr>
        <p:spPr>
          <a:xfrm>
            <a:off x="687686" y="1262133"/>
            <a:ext cx="2504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29583-E3E9-FC35-960F-D232D36FD22F}"/>
              </a:ext>
            </a:extLst>
          </p:cNvPr>
          <p:cNvSpPr txBox="1"/>
          <p:nvPr/>
        </p:nvSpPr>
        <p:spPr>
          <a:xfrm>
            <a:off x="4588431" y="1262132"/>
            <a:ext cx="2504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BD144-2CD0-B5AD-0ADD-BC96A3909CFA}"/>
              </a:ext>
            </a:extLst>
          </p:cNvPr>
          <p:cNvSpPr txBox="1"/>
          <p:nvPr/>
        </p:nvSpPr>
        <p:spPr>
          <a:xfrm>
            <a:off x="8303572" y="1262131"/>
            <a:ext cx="2504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9218D23-7461-B22B-BB9D-E9CAA40C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910" y="1723798"/>
            <a:ext cx="2598288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DB58F5E-DB43-24D3-43BF-AC65F223D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277" y="3975111"/>
            <a:ext cx="2631231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601131D-573F-71F1-942A-BF894F754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01" y="1723796"/>
            <a:ext cx="2598288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5163A14-625B-5612-9A9A-A141C739D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01" y="3975107"/>
            <a:ext cx="2631231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7EB16B-768D-0680-674E-4CC688CA2884}"/>
              </a:ext>
            </a:extLst>
          </p:cNvPr>
          <p:cNvSpPr txBox="1"/>
          <p:nvPr/>
        </p:nvSpPr>
        <p:spPr>
          <a:xfrm>
            <a:off x="3166370" y="6041752"/>
            <a:ext cx="5757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оказывают значительное влияние друг на друга</a:t>
            </a:r>
          </a:p>
        </p:txBody>
      </p:sp>
    </p:spTree>
    <p:extLst>
      <p:ext uri="{BB962C8B-B14F-4D97-AF65-F5344CB8AC3E}">
        <p14:creationId xmlns:p14="http://schemas.microsoft.com/office/powerpoint/2010/main" val="2543581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00A081-A06B-C0E0-631B-137EA9CF0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2587"/>
            <a:ext cx="3486150" cy="15144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4DB3C3-415B-A643-73A2-7DC1D49FE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3172859"/>
            <a:ext cx="3143250" cy="152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2A21C3-3A7E-8954-2214-7D64E0601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650" y="3232587"/>
            <a:ext cx="3324225" cy="1485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B32A5E-F830-905B-CCFD-96D8B622EF9D}"/>
              </a:ext>
            </a:extLst>
          </p:cNvPr>
          <p:cNvSpPr txBox="1"/>
          <p:nvPr/>
        </p:nvSpPr>
        <p:spPr>
          <a:xfrm>
            <a:off x="1883007" y="4984215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0.192913413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4D921-E5A8-31D2-49EB-42B0CC0252A7}"/>
              </a:ext>
            </a:extLst>
          </p:cNvPr>
          <p:cNvSpPr txBox="1"/>
          <p:nvPr/>
        </p:nvSpPr>
        <p:spPr>
          <a:xfrm>
            <a:off x="5402028" y="4984215"/>
            <a:ext cx="1387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0.148211534</a:t>
            </a:r>
            <a:endParaRPr lang="ru-RU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E547EF-5632-1133-C72A-B3FE5E03D052}"/>
              </a:ext>
            </a:extLst>
          </p:cNvPr>
          <p:cNvSpPr txBox="1"/>
          <p:nvPr/>
        </p:nvSpPr>
        <p:spPr>
          <a:xfrm>
            <a:off x="9143289" y="498421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0.7926785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1ED848A-4C47-12FE-F654-924C6472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Исключение фактора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9AD25-6196-B8D2-32C6-522C038D62F9}"/>
              </a:ext>
            </a:extLst>
          </p:cNvPr>
          <p:cNvSpPr txBox="1"/>
          <p:nvPr/>
        </p:nvSpPr>
        <p:spPr>
          <a:xfrm>
            <a:off x="838200" y="1590557"/>
            <a:ext cx="10353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полном отсутствии взаимного влияния факторов друг на друга все значения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корреляции кроме главной диагонали будут равны нулю, а определитель равен единице.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Исключая поочередно разные факторы, найдем сочетание при котором определитель будет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ближе к единице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93898-4A03-B117-0164-2D7AFD063319}"/>
              </a:ext>
            </a:extLst>
          </p:cNvPr>
          <p:cNvSpPr txBox="1"/>
          <p:nvPr/>
        </p:nvSpPr>
        <p:spPr>
          <a:xfrm>
            <a:off x="3103307" y="5590700"/>
            <a:ext cx="6185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уменьшает взаимную зависимость факторов</a:t>
            </a:r>
          </a:p>
        </p:txBody>
      </p:sp>
    </p:spTree>
    <p:extLst>
      <p:ext uri="{BB962C8B-B14F-4D97-AF65-F5344CB8AC3E}">
        <p14:creationId xmlns:p14="http://schemas.microsoft.com/office/powerpoint/2010/main" val="1485026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D7A260-BCE9-E8D1-4389-1344BD3E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Зависимость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предыдущих значений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факторов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X1-X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B66BAB-FE75-F996-A7CF-D00873610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84" y="2409747"/>
            <a:ext cx="5140119" cy="3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62E3BE7-CDEF-5638-15E6-A29A19C0C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330" y="2409747"/>
            <a:ext cx="5262486" cy="38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CE4031-A6D8-886D-6A3D-A745B944431B}"/>
              </a:ext>
            </a:extLst>
          </p:cNvPr>
          <p:cNvSpPr txBox="1"/>
          <p:nvPr/>
        </p:nvSpPr>
        <p:spPr>
          <a:xfrm>
            <a:off x="2295414" y="1953676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51C9F-F6F8-B373-BA77-697C48A1C16F}"/>
              </a:ext>
            </a:extLst>
          </p:cNvPr>
          <p:cNvSpPr txBox="1"/>
          <p:nvPr/>
        </p:nvSpPr>
        <p:spPr>
          <a:xfrm>
            <a:off x="8233744" y="1948082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D3866-1793-8F68-C51A-60A6916A5CC7}"/>
              </a:ext>
            </a:extLst>
          </p:cNvPr>
          <p:cNvSpPr txBox="1"/>
          <p:nvPr/>
        </p:nvSpPr>
        <p:spPr>
          <a:xfrm>
            <a:off x="3822699" y="2571750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  0,169                 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- 0,189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0,281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72B62-2E60-4961-0FA1-7421BE29BA4E}"/>
              </a:ext>
            </a:extLst>
          </p:cNvPr>
          <p:cNvSpPr txBox="1"/>
          <p:nvPr/>
        </p:nvSpPr>
        <p:spPr>
          <a:xfrm>
            <a:off x="9835401" y="2548246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- 0,157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- 0,175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0,286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1E537A-AB8F-5224-F169-B3E9EFF69FD1}"/>
              </a:ext>
            </a:extLst>
          </p:cNvPr>
          <p:cNvSpPr txBox="1"/>
          <p:nvPr/>
        </p:nvSpPr>
        <p:spPr>
          <a:xfrm>
            <a:off x="3517700" y="5414300"/>
            <a:ext cx="2009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Незначимый фактор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71A03-0758-F40B-C968-7FE4631334DA}"/>
              </a:ext>
            </a:extLst>
          </p:cNvPr>
          <p:cNvSpPr txBox="1"/>
          <p:nvPr/>
        </p:nvSpPr>
        <p:spPr>
          <a:xfrm>
            <a:off x="9530402" y="5414300"/>
            <a:ext cx="2009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Незначимый фактор </a:t>
            </a:r>
          </a:p>
        </p:txBody>
      </p:sp>
    </p:spTree>
    <p:extLst>
      <p:ext uri="{BB962C8B-B14F-4D97-AF65-F5344CB8AC3E}">
        <p14:creationId xmlns:p14="http://schemas.microsoft.com/office/powerpoint/2010/main" val="751898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D7A260-BCE9-E8D1-4389-1344BD3E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Зависимость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предыдущих значений факторов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83582A1-B897-7D52-DBF1-C05C76318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22" y="2420031"/>
            <a:ext cx="5165029" cy="3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DD81082-509E-8D0C-260C-10C8D6C66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851" y="2368660"/>
            <a:ext cx="5165029" cy="3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F5DFAC-876C-8707-80D6-F2225463D60C}"/>
              </a:ext>
            </a:extLst>
          </p:cNvPr>
          <p:cNvSpPr txBox="1"/>
          <p:nvPr/>
        </p:nvSpPr>
        <p:spPr>
          <a:xfrm>
            <a:off x="8205536" y="1902325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92922-60A4-9EF0-03EE-23D53AEAE606}"/>
              </a:ext>
            </a:extLst>
          </p:cNvPr>
          <p:cNvSpPr txBox="1"/>
          <p:nvPr/>
        </p:nvSpPr>
        <p:spPr>
          <a:xfrm>
            <a:off x="2384808" y="1949026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AA310-ECE1-A327-0A49-56540E7AB6F6}"/>
              </a:ext>
            </a:extLst>
          </p:cNvPr>
          <p:cNvSpPr txBox="1"/>
          <p:nvPr/>
        </p:nvSpPr>
        <p:spPr>
          <a:xfrm>
            <a:off x="3926066" y="2571750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  0,259              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- 0,319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0,259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9B8F5-A24A-9330-58E1-1C0E300C798F}"/>
              </a:ext>
            </a:extLst>
          </p:cNvPr>
          <p:cNvSpPr txBox="1"/>
          <p:nvPr/>
        </p:nvSpPr>
        <p:spPr>
          <a:xfrm>
            <a:off x="9764702" y="2500188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  0,871                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- 0,406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0,879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0E77E-3D2D-89DD-C8F0-ECF0D75C804E}"/>
              </a:ext>
            </a:extLst>
          </p:cNvPr>
          <p:cNvSpPr txBox="1"/>
          <p:nvPr/>
        </p:nvSpPr>
        <p:spPr>
          <a:xfrm>
            <a:off x="1692748" y="3227421"/>
            <a:ext cx="37031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исторических значений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немного больше текущей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12E62-C477-ACDB-8023-906C3EC0AF20}"/>
              </a:ext>
            </a:extLst>
          </p:cNvPr>
          <p:cNvSpPr txBox="1"/>
          <p:nvPr/>
        </p:nvSpPr>
        <p:spPr>
          <a:xfrm>
            <a:off x="9565791" y="3532103"/>
            <a:ext cx="1875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исключен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значимых из-за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взаимного влияния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55E15-E35B-B96D-C530-0A9040E69B6E}"/>
              </a:ext>
            </a:extLst>
          </p:cNvPr>
          <p:cNvSpPr txBox="1"/>
          <p:nvPr/>
        </p:nvSpPr>
        <p:spPr>
          <a:xfrm>
            <a:off x="3791849" y="4771363"/>
            <a:ext cx="1604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можно 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принять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значимый</a:t>
            </a:r>
          </a:p>
        </p:txBody>
      </p:sp>
    </p:spTree>
    <p:extLst>
      <p:ext uri="{BB962C8B-B14F-4D97-AF65-F5344CB8AC3E}">
        <p14:creationId xmlns:p14="http://schemas.microsoft.com/office/powerpoint/2010/main" val="171200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D7A260-BCE9-E8D1-4389-1344BD3E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Зависимость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предыдущих значений факторов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-X6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1E6D3C-CE3E-7842-8EA4-68E551367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91940"/>
            <a:ext cx="5164999" cy="3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28AD17E-D2E2-8906-02DC-F14D8939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446" y="2491940"/>
            <a:ext cx="5164999" cy="3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B27AE4-48A9-727E-58E7-5C27072EDA4C}"/>
              </a:ext>
            </a:extLst>
          </p:cNvPr>
          <p:cNvSpPr txBox="1"/>
          <p:nvPr/>
        </p:nvSpPr>
        <p:spPr>
          <a:xfrm>
            <a:off x="8164116" y="1948080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395AE-79FA-D6A2-CAA9-5D45442EBBFA}"/>
              </a:ext>
            </a:extLst>
          </p:cNvPr>
          <p:cNvSpPr txBox="1"/>
          <p:nvPr/>
        </p:nvSpPr>
        <p:spPr>
          <a:xfrm>
            <a:off x="2619870" y="1948081"/>
            <a:ext cx="1601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F7263-09C9-FBC3-BFFC-60E5B0D72993}"/>
              </a:ext>
            </a:extLst>
          </p:cNvPr>
          <p:cNvSpPr txBox="1"/>
          <p:nvPr/>
        </p:nvSpPr>
        <p:spPr>
          <a:xfrm>
            <a:off x="4156654" y="2644005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- 0,375              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- 0,395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0,285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44716-4752-CD41-C14F-B13C6E1EFC05}"/>
              </a:ext>
            </a:extLst>
          </p:cNvPr>
          <p:cNvSpPr txBox="1"/>
          <p:nvPr/>
        </p:nvSpPr>
        <p:spPr>
          <a:xfrm>
            <a:off x="9720542" y="2612256"/>
            <a:ext cx="170401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              0,080                       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 - 0,269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  0,199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F7429-4A39-56B8-94E9-A83603F1C4DC}"/>
              </a:ext>
            </a:extLst>
          </p:cNvPr>
          <p:cNvSpPr txBox="1"/>
          <p:nvPr/>
        </p:nvSpPr>
        <p:spPr>
          <a:xfrm>
            <a:off x="7012448" y="5342381"/>
            <a:ext cx="2009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Незначимый фактор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EF75A-783B-3918-E8E6-807869B8C460}"/>
              </a:ext>
            </a:extLst>
          </p:cNvPr>
          <p:cNvSpPr txBox="1"/>
          <p:nvPr/>
        </p:nvSpPr>
        <p:spPr>
          <a:xfrm>
            <a:off x="3791849" y="4771363"/>
            <a:ext cx="1604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можно 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принять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значимый</a:t>
            </a:r>
          </a:p>
        </p:txBody>
      </p:sp>
    </p:spTree>
    <p:extLst>
      <p:ext uri="{BB962C8B-B14F-4D97-AF65-F5344CB8AC3E}">
        <p14:creationId xmlns:p14="http://schemas.microsoft.com/office/powerpoint/2010/main" val="423052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41B1603-9485-7D17-86BE-98DEE8C6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Прогнозирование значений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A8F427-35E3-5B77-838F-BB0F32EA81F5}"/>
              </a:ext>
            </a:extLst>
          </p:cNvPr>
          <p:cNvSpPr txBox="1"/>
          <p:nvPr/>
        </p:nvSpPr>
        <p:spPr>
          <a:xfrm>
            <a:off x="838200" y="1955864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Деление выборки на тестовую и обучающую (выбрано 40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60 %)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Стандартизация выборки (новое среднее значение - 0, дисперсия - 1)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Создание модели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Обучение модели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Проверка на тестовой выборке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Построение прогноза</a:t>
            </a:r>
          </a:p>
        </p:txBody>
      </p:sp>
    </p:spTree>
    <p:extLst>
      <p:ext uri="{BB962C8B-B14F-4D97-AF65-F5344CB8AC3E}">
        <p14:creationId xmlns:p14="http://schemas.microsoft.com/office/powerpoint/2010/main" val="2734600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41B1603-9485-7D17-86BE-98DEE8C6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Прогноз значений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36DB9A-1A57-33E0-A25B-E1AC3C5A6788}"/>
              </a:ext>
            </a:extLst>
          </p:cNvPr>
          <p:cNvSpPr/>
          <p:nvPr/>
        </p:nvSpPr>
        <p:spPr>
          <a:xfrm>
            <a:off x="7325475" y="1849349"/>
            <a:ext cx="1397286" cy="8527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34FF642-D9D7-470C-4432-3F6381C5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64" y="1454382"/>
            <a:ext cx="6832472" cy="51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864CA0-B230-1CD5-A521-F8916DF05A9B}"/>
              </a:ext>
            </a:extLst>
          </p:cNvPr>
          <p:cNvSpPr/>
          <p:nvPr/>
        </p:nvSpPr>
        <p:spPr>
          <a:xfrm>
            <a:off x="7746715" y="1646729"/>
            <a:ext cx="1602768" cy="405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DAA829E-6341-6047-7C2E-6D53A8C24CEE}"/>
              </a:ext>
            </a:extLst>
          </p:cNvPr>
          <p:cNvCxnSpPr>
            <a:cxnSpLocks/>
          </p:cNvCxnSpPr>
          <p:nvPr/>
        </p:nvCxnSpPr>
        <p:spPr>
          <a:xfrm flipV="1">
            <a:off x="8814927" y="1690688"/>
            <a:ext cx="0" cy="445987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582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C855913-1B8D-F15A-2D20-6A0F85BC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Визуальная оценка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4260391-D74F-AF80-A5D6-E8EFC71187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03"/>
          <a:stretch/>
        </p:blipFill>
        <p:spPr>
          <a:xfrm>
            <a:off x="1651784" y="2083927"/>
            <a:ext cx="8743950" cy="3925453"/>
          </a:xfrm>
          <a:prstGeom prst="rect">
            <a:avLst/>
          </a:prstGeom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5D24D920-6DB3-29DF-2C5C-A82755D49AF3}"/>
              </a:ext>
            </a:extLst>
          </p:cNvPr>
          <p:cNvCxnSpPr/>
          <p:nvPr/>
        </p:nvCxnSpPr>
        <p:spPr>
          <a:xfrm flipV="1">
            <a:off x="2455524" y="2332234"/>
            <a:ext cx="7756988" cy="77056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00DB36A1-E0C0-64A2-959F-D1033D1CC8A3}"/>
              </a:ext>
            </a:extLst>
          </p:cNvPr>
          <p:cNvCxnSpPr/>
          <p:nvPr/>
        </p:nvCxnSpPr>
        <p:spPr>
          <a:xfrm flipV="1">
            <a:off x="2638746" y="3276092"/>
            <a:ext cx="7756988" cy="77056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64DC0640-7F85-1668-9CAD-C2F0FD0D90C2}"/>
              </a:ext>
            </a:extLst>
          </p:cNvPr>
          <p:cNvCxnSpPr/>
          <p:nvPr/>
        </p:nvCxnSpPr>
        <p:spPr>
          <a:xfrm>
            <a:off x="4703852" y="2250040"/>
            <a:ext cx="0" cy="3154167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A8DEDCE-235D-1BCE-C3C6-02A22A76F100}"/>
              </a:ext>
            </a:extLst>
          </p:cNvPr>
          <p:cNvCxnSpPr/>
          <p:nvPr/>
        </p:nvCxnSpPr>
        <p:spPr>
          <a:xfrm>
            <a:off x="6756971" y="2250039"/>
            <a:ext cx="0" cy="3154167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22F46E9-B415-A82F-CC8A-CE6075426D28}"/>
              </a:ext>
            </a:extLst>
          </p:cNvPr>
          <p:cNvCxnSpPr/>
          <p:nvPr/>
        </p:nvCxnSpPr>
        <p:spPr>
          <a:xfrm>
            <a:off x="8791254" y="2250038"/>
            <a:ext cx="0" cy="3154167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3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5BAD009-DAFF-ED4A-DBD7-46D537F2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Оценка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8443F-4F0F-CF78-CEE4-0C894586BB59}"/>
              </a:ext>
            </a:extLst>
          </p:cNvPr>
          <p:cNvSpPr txBox="1"/>
          <p:nvPr/>
        </p:nvSpPr>
        <p:spPr>
          <a:xfrm>
            <a:off x="838200" y="1955864"/>
            <a:ext cx="1051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Возрастающий тренд. Можно описать линейной функцией 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Выраженная сезонность. (Повтор с периодом 3 по шкале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можно описать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sin(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Сезонность аддитивная (Ряд в пределах полос постоянной ширины) 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Ряд меняет свое поведение только в начале (возрастает)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Нет ярко выраженных выбросов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Ряд может быть описан логарифмической функцией с возрастанием и     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наложением сезонности</a:t>
            </a:r>
          </a:p>
        </p:txBody>
      </p:sp>
    </p:spTree>
    <p:extLst>
      <p:ext uri="{BB962C8B-B14F-4D97-AF65-F5344CB8AC3E}">
        <p14:creationId xmlns:p14="http://schemas.microsoft.com/office/powerpoint/2010/main" val="816192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4DF4D08-5CD4-9035-130B-B61ACDC7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Прогноз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6C53FD-6AB0-F49B-0E97-83455A0812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308"/>
          <a:stretch/>
        </p:blipFill>
        <p:spPr>
          <a:xfrm>
            <a:off x="1398969" y="1690688"/>
            <a:ext cx="9524624" cy="4243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4BD8B9-C889-37E9-5A00-8286F7238435}"/>
              </a:ext>
            </a:extLst>
          </p:cNvPr>
          <p:cNvSpPr txBox="1"/>
          <p:nvPr/>
        </p:nvSpPr>
        <p:spPr>
          <a:xfrm>
            <a:off x="2770632" y="2304288"/>
            <a:ext cx="2769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Исторические значения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5FE7E-C09B-3E33-344F-16C104CC2F96}"/>
              </a:ext>
            </a:extLst>
          </p:cNvPr>
          <p:cNvSpPr txBox="1"/>
          <p:nvPr/>
        </p:nvSpPr>
        <p:spPr>
          <a:xfrm>
            <a:off x="6998208" y="1872811"/>
            <a:ext cx="3946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Оптимистичные вариант прогноза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4249F-6C73-BE3F-22D3-EF1A8C6F3FF7}"/>
              </a:ext>
            </a:extLst>
          </p:cNvPr>
          <p:cNvSpPr txBox="1"/>
          <p:nvPr/>
        </p:nvSpPr>
        <p:spPr>
          <a:xfrm>
            <a:off x="6858746" y="3367120"/>
            <a:ext cx="4086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Пессимистичный вариант прогноза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80686-0444-0FF9-DF3D-004A2C584B3B}"/>
              </a:ext>
            </a:extLst>
          </p:cNvPr>
          <p:cNvSpPr txBox="1"/>
          <p:nvPr/>
        </p:nvSpPr>
        <p:spPr>
          <a:xfrm>
            <a:off x="7500078" y="4538263"/>
            <a:ext cx="329295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построен при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помощи функции ПРЕДСКАЗ()</a:t>
            </a:r>
          </a:p>
        </p:txBody>
      </p:sp>
    </p:spTree>
    <p:extLst>
      <p:ext uri="{BB962C8B-B14F-4D97-AF65-F5344CB8AC3E}">
        <p14:creationId xmlns:p14="http://schemas.microsoft.com/office/powerpoint/2010/main" val="1334301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6945D-F34D-F5D8-3668-C8F7EC1D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Построение модели в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BD67E0-5B4F-64F5-7FA3-A2C3AF66D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53"/>
          <a:stretch/>
        </p:blipFill>
        <p:spPr>
          <a:xfrm>
            <a:off x="1038225" y="1613042"/>
            <a:ext cx="10115550" cy="4466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A7A249-D500-A6BA-9C0B-4D95597EB675}"/>
              </a:ext>
            </a:extLst>
          </p:cNvPr>
          <p:cNvSpPr txBox="1"/>
          <p:nvPr/>
        </p:nvSpPr>
        <p:spPr>
          <a:xfrm>
            <a:off x="7765668" y="4321628"/>
            <a:ext cx="32810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Построено через линию тренда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Отклонение большое</a:t>
            </a:r>
          </a:p>
        </p:txBody>
      </p:sp>
    </p:spTree>
    <p:extLst>
      <p:ext uri="{BB962C8B-B14F-4D97-AF65-F5344CB8AC3E}">
        <p14:creationId xmlns:p14="http://schemas.microsoft.com/office/powerpoint/2010/main" val="2179589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E1BFCE6-3301-A58A-0158-01A2577D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84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Подбор параметров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274001-738C-DEC1-97F2-B73606033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498"/>
            <a:ext cx="10515599" cy="4861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C0EA05-32E1-BF3A-5215-B11E8F46D3F2}"/>
              </a:ext>
            </a:extLst>
          </p:cNvPr>
          <p:cNvSpPr txBox="1"/>
          <p:nvPr/>
        </p:nvSpPr>
        <p:spPr>
          <a:xfrm>
            <a:off x="6761092" y="3224758"/>
            <a:ext cx="448616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Добавляем сезонность с помощью синуса 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положительный тренд (увеличение на 9,5)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2,4963*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0779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3*SIN(2*x)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374EE1-4F7E-D431-0D7B-99A822310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285" y="4336962"/>
            <a:ext cx="42957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21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0E19BAE-40A6-7A03-4F5C-0F395149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Прогноз зависимости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3D6FFD-F57E-3113-457D-E795F78E4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60631" cy="4514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38F81D-F6DF-A29F-503C-015B355E2C28}"/>
              </a:ext>
            </a:extLst>
          </p:cNvPr>
          <p:cNvSpPr txBox="1"/>
          <p:nvPr/>
        </p:nvSpPr>
        <p:spPr>
          <a:xfrm>
            <a:off x="6312205" y="3727822"/>
            <a:ext cx="39148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2,4963*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0779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3*SIN(2*x)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53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1122</Words>
  <Application>Microsoft Office PowerPoint</Application>
  <PresentationFormat>Широкоэкранный</PresentationFormat>
  <Paragraphs>197</Paragraphs>
  <Slides>22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Задание 1. Характеристика инструмента</vt:lpstr>
      <vt:lpstr>Задание 1. Расчет стоимости инструмента</vt:lpstr>
      <vt:lpstr>Задание 1. Расчет стоимости инструмента</vt:lpstr>
      <vt:lpstr>Задание 1. Расчет стоимости инструмента</vt:lpstr>
      <vt:lpstr>Задание 2. Визуальная оценка зависимости Y от X1 и X2</vt:lpstr>
      <vt:lpstr>Задание 2. Визуальная оценка зависимости Y от X3 и X4</vt:lpstr>
      <vt:lpstr>Задание 2. Визуальная оценка зависимости Y от X5 и X6</vt:lpstr>
      <vt:lpstr>Задание 2. Зависимость Y от факторов</vt:lpstr>
      <vt:lpstr>Задание 2. Зависимость Y от собственных предыдущих значений</vt:lpstr>
      <vt:lpstr>Задание 2. Взаимная зависимость факторов</vt:lpstr>
      <vt:lpstr>Задание 2. Исключение фактора X4</vt:lpstr>
      <vt:lpstr>Задание 2. Зависимость Y от предыдущих значений факторов X1-X2</vt:lpstr>
      <vt:lpstr>Задание 2. Зависимость Y от предыдущих значений факторов X3-X4</vt:lpstr>
      <vt:lpstr>Задание 2. Зависимость Y от предыдущих значений факторов X5-X6</vt:lpstr>
      <vt:lpstr>Задание 2. Прогнозирование значений Y</vt:lpstr>
      <vt:lpstr>Задание 2. Прогноз значений Y</vt:lpstr>
      <vt:lpstr>Задание 3. Визуальная оценка зависимости Y от X</vt:lpstr>
      <vt:lpstr>Задание 3. Оценка зависимости Y от X</vt:lpstr>
      <vt:lpstr>Задание 3. Прогноз зависимости Y от X</vt:lpstr>
      <vt:lpstr>Задание 3. Построение модели в excel</vt:lpstr>
      <vt:lpstr>Задание 3. Подбор параметров модели</vt:lpstr>
      <vt:lpstr>Задание 3. Прогноз зависимости Y от 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Levchenko Aleksey R.</dc:creator>
  <cp:lastModifiedBy>Levchenko Aleksey R.</cp:lastModifiedBy>
  <cp:revision>50</cp:revision>
  <dcterms:created xsi:type="dcterms:W3CDTF">2023-06-23T05:53:02Z</dcterms:created>
  <dcterms:modified xsi:type="dcterms:W3CDTF">2023-07-08T12:33:15Z</dcterms:modified>
</cp:coreProperties>
</file>